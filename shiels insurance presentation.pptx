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2" r:id="rId1"/>
  </p:sldMasterIdLst>
  <p:sldIdLst>
    <p:sldId id="256" r:id="rId2"/>
    <p:sldId id="257" r:id="rId3"/>
    <p:sldId id="259" r:id="rId4"/>
    <p:sldId id="260" r:id="rId5"/>
    <p:sldId id="258" r:id="rId6"/>
    <p:sldId id="261" r:id="rId7"/>
    <p:sldId id="265" r:id="rId8"/>
    <p:sldId id="266" r:id="rId9"/>
    <p:sldId id="267" r:id="rId10"/>
    <p:sldId id="262" r:id="rId11"/>
    <p:sldId id="263"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ak Kumar" userId="4dfffa7df1c646d7" providerId="LiveId" clId="{20C47A69-9507-4E02-9601-2539ACCFBFB7}"/>
    <pc:docChg chg="custSel addSld modSld sldOrd modMainMaster">
      <pc:chgData name="Deepak Kumar" userId="4dfffa7df1c646d7" providerId="LiveId" clId="{20C47A69-9507-4E02-9601-2539ACCFBFB7}" dt="2026-10-08T05:43:47.029" v="4999" actId="14100"/>
      <pc:docMkLst>
        <pc:docMk/>
      </pc:docMkLst>
      <pc:sldChg chg="ord">
        <pc:chgData name="Deepak Kumar" userId="4dfffa7df1c646d7" providerId="LiveId" clId="{20C47A69-9507-4E02-9601-2539ACCFBFB7}" dt="2026-10-07T09:56:54.933" v="4975"/>
        <pc:sldMkLst>
          <pc:docMk/>
          <pc:sldMk cId="2927243019" sldId="256"/>
        </pc:sldMkLst>
      </pc:sldChg>
      <pc:sldChg chg="addSp delSp modSp mod">
        <pc:chgData name="Deepak Kumar" userId="4dfffa7df1c646d7" providerId="LiveId" clId="{20C47A69-9507-4E02-9601-2539ACCFBFB7}" dt="2026-10-07T07:14:56.477" v="4941" actId="20577"/>
        <pc:sldMkLst>
          <pc:docMk/>
          <pc:sldMk cId="4086087414" sldId="257"/>
        </pc:sldMkLst>
        <pc:spChg chg="mod">
          <ac:chgData name="Deepak Kumar" userId="4dfffa7df1c646d7" providerId="LiveId" clId="{20C47A69-9507-4E02-9601-2539ACCFBFB7}" dt="2026-10-07T07:14:56.477" v="4941" actId="20577"/>
          <ac:spMkLst>
            <pc:docMk/>
            <pc:sldMk cId="4086087414" sldId="257"/>
            <ac:spMk id="10" creationId="{FF7D03A6-E6A5-8930-DC12-EFA78E3CF4AF}"/>
          </ac:spMkLst>
        </pc:spChg>
        <pc:picChg chg="add mod">
          <ac:chgData name="Deepak Kumar" userId="4dfffa7df1c646d7" providerId="LiveId" clId="{20C47A69-9507-4E02-9601-2539ACCFBFB7}" dt="2026-10-05T11:00:15.156" v="10" actId="1076"/>
          <ac:picMkLst>
            <pc:docMk/>
            <pc:sldMk cId="4086087414" sldId="257"/>
            <ac:picMk id="11" creationId="{340A5462-3540-A7E9-59E7-C6F4ED98C721}"/>
          </ac:picMkLst>
        </pc:picChg>
      </pc:sldChg>
      <pc:sldChg chg="addSp delSp modSp new mod">
        <pc:chgData name="Deepak Kumar" userId="4dfffa7df1c646d7" providerId="LiveId" clId="{20C47A69-9507-4E02-9601-2539ACCFBFB7}" dt="2026-10-07T07:25:27.125" v="4971" actId="20577"/>
        <pc:sldMkLst>
          <pc:docMk/>
          <pc:sldMk cId="3169990660" sldId="258"/>
        </pc:sldMkLst>
        <pc:spChg chg="add mod">
          <ac:chgData name="Deepak Kumar" userId="4dfffa7df1c646d7" providerId="LiveId" clId="{20C47A69-9507-4E02-9601-2539ACCFBFB7}" dt="2026-10-05T11:01:50.099" v="34" actId="1076"/>
          <ac:spMkLst>
            <pc:docMk/>
            <pc:sldMk cId="3169990660" sldId="258"/>
            <ac:spMk id="3" creationId="{C2B58DE1-C2BE-1679-AF43-06FDFC2D52E6}"/>
          </ac:spMkLst>
        </pc:spChg>
        <pc:spChg chg="add mod">
          <ac:chgData name="Deepak Kumar" userId="4dfffa7df1c646d7" providerId="LiveId" clId="{20C47A69-9507-4E02-9601-2539ACCFBFB7}" dt="2026-10-05T11:15:55.966" v="385" actId="1076"/>
          <ac:spMkLst>
            <pc:docMk/>
            <pc:sldMk cId="3169990660" sldId="258"/>
            <ac:spMk id="4" creationId="{9093F677-C857-7DB2-C359-A6E7CACCC901}"/>
          </ac:spMkLst>
        </pc:spChg>
        <pc:spChg chg="add mod">
          <ac:chgData name="Deepak Kumar" userId="4dfffa7df1c646d7" providerId="LiveId" clId="{20C47A69-9507-4E02-9601-2539ACCFBFB7}" dt="2026-10-05T11:11:30.877" v="230" actId="1076"/>
          <ac:spMkLst>
            <pc:docMk/>
            <pc:sldMk cId="3169990660" sldId="258"/>
            <ac:spMk id="5" creationId="{E8CF4479-7A71-421F-0652-560883340147}"/>
          </ac:spMkLst>
        </pc:spChg>
        <pc:spChg chg="add mod">
          <ac:chgData name="Deepak Kumar" userId="4dfffa7df1c646d7" providerId="LiveId" clId="{20C47A69-9507-4E02-9601-2539ACCFBFB7}" dt="2026-10-05T11:11:33.962" v="231" actId="1076"/>
          <ac:spMkLst>
            <pc:docMk/>
            <pc:sldMk cId="3169990660" sldId="258"/>
            <ac:spMk id="7" creationId="{AE435FAC-9B35-8189-393B-7F0680F92461}"/>
          </ac:spMkLst>
        </pc:spChg>
        <pc:spChg chg="add mod">
          <ac:chgData name="Deepak Kumar" userId="4dfffa7df1c646d7" providerId="LiveId" clId="{20C47A69-9507-4E02-9601-2539ACCFBFB7}" dt="2026-10-05T11:10:53.970" v="224" actId="1076"/>
          <ac:spMkLst>
            <pc:docMk/>
            <pc:sldMk cId="3169990660" sldId="258"/>
            <ac:spMk id="9" creationId="{532A085A-96F0-915E-587C-80AD3A86D553}"/>
          </ac:spMkLst>
        </pc:spChg>
        <pc:spChg chg="add mod">
          <ac:chgData name="Deepak Kumar" userId="4dfffa7df1c646d7" providerId="LiveId" clId="{20C47A69-9507-4E02-9601-2539ACCFBFB7}" dt="2026-10-05T11:09:47.441" v="211" actId="14100"/>
          <ac:spMkLst>
            <pc:docMk/>
            <pc:sldMk cId="3169990660" sldId="258"/>
            <ac:spMk id="11" creationId="{A404BE70-402A-F4F9-4809-3A39FE14BEBA}"/>
          </ac:spMkLst>
        </pc:spChg>
        <pc:spChg chg="add mod">
          <ac:chgData name="Deepak Kumar" userId="4dfffa7df1c646d7" providerId="LiveId" clId="{20C47A69-9507-4E02-9601-2539ACCFBFB7}" dt="2026-10-05T11:10:51.257" v="223" actId="1076"/>
          <ac:spMkLst>
            <pc:docMk/>
            <pc:sldMk cId="3169990660" sldId="258"/>
            <ac:spMk id="13" creationId="{8E487200-9F1B-4A63-F778-6DC7B699D700}"/>
          </ac:spMkLst>
        </pc:spChg>
        <pc:spChg chg="add mod">
          <ac:chgData name="Deepak Kumar" userId="4dfffa7df1c646d7" providerId="LiveId" clId="{20C47A69-9507-4E02-9601-2539ACCFBFB7}" dt="2026-10-05T11:10:37.659" v="221" actId="1076"/>
          <ac:spMkLst>
            <pc:docMk/>
            <pc:sldMk cId="3169990660" sldId="258"/>
            <ac:spMk id="17" creationId="{7DCD62BB-A3EB-475A-D57F-6AA00870423D}"/>
          </ac:spMkLst>
        </pc:spChg>
        <pc:spChg chg="add mod">
          <ac:chgData name="Deepak Kumar" userId="4dfffa7df1c646d7" providerId="LiveId" clId="{20C47A69-9507-4E02-9601-2539ACCFBFB7}" dt="2026-10-05T11:08:49.978" v="177" actId="1076"/>
          <ac:spMkLst>
            <pc:docMk/>
            <pc:sldMk cId="3169990660" sldId="258"/>
            <ac:spMk id="20" creationId="{4B18B76F-D7FA-8B83-6C0A-0F7095189A1C}"/>
          </ac:spMkLst>
        </pc:spChg>
        <pc:spChg chg="add mod">
          <ac:chgData name="Deepak Kumar" userId="4dfffa7df1c646d7" providerId="LiveId" clId="{20C47A69-9507-4E02-9601-2539ACCFBFB7}" dt="2026-10-05T11:08:35.200" v="175" actId="1076"/>
          <ac:spMkLst>
            <pc:docMk/>
            <pc:sldMk cId="3169990660" sldId="258"/>
            <ac:spMk id="22" creationId="{868EF7A7-FAD4-2BF5-FF22-B0A6CC21FF37}"/>
          </ac:spMkLst>
        </pc:spChg>
        <pc:spChg chg="add mod">
          <ac:chgData name="Deepak Kumar" userId="4dfffa7df1c646d7" providerId="LiveId" clId="{20C47A69-9507-4E02-9601-2539ACCFBFB7}" dt="2026-10-05T11:09:36.669" v="209" actId="122"/>
          <ac:spMkLst>
            <pc:docMk/>
            <pc:sldMk cId="3169990660" sldId="258"/>
            <ac:spMk id="23" creationId="{23F0ACAD-169B-51AE-1235-FC182AD6C6B1}"/>
          </ac:spMkLst>
        </pc:spChg>
        <pc:spChg chg="add mod">
          <ac:chgData name="Deepak Kumar" userId="4dfffa7df1c646d7" providerId="LiveId" clId="{20C47A69-9507-4E02-9601-2539ACCFBFB7}" dt="2026-10-05T11:10:42.180" v="222" actId="1076"/>
          <ac:spMkLst>
            <pc:docMk/>
            <pc:sldMk cId="3169990660" sldId="258"/>
            <ac:spMk id="25" creationId="{9BED7EC7-9F68-92E5-96CE-3590587F0709}"/>
          </ac:spMkLst>
        </pc:spChg>
        <pc:spChg chg="add mod">
          <ac:chgData name="Deepak Kumar" userId="4dfffa7df1c646d7" providerId="LiveId" clId="{20C47A69-9507-4E02-9601-2539ACCFBFB7}" dt="2026-10-07T07:25:27.125" v="4971" actId="20577"/>
          <ac:spMkLst>
            <pc:docMk/>
            <pc:sldMk cId="3169990660" sldId="258"/>
            <ac:spMk id="26" creationId="{B9550827-19B6-E6AE-7D9C-29839CB23980}"/>
          </ac:spMkLst>
        </pc:spChg>
        <pc:spChg chg="add mod">
          <ac:chgData name="Deepak Kumar" userId="4dfffa7df1c646d7" providerId="LiveId" clId="{20C47A69-9507-4E02-9601-2539ACCFBFB7}" dt="2026-10-05T11:15:50.800" v="384" actId="1076"/>
          <ac:spMkLst>
            <pc:docMk/>
            <pc:sldMk cId="3169990660" sldId="258"/>
            <ac:spMk id="28" creationId="{E5EF731D-FD44-D9A8-A5DC-83A18A496C10}"/>
          </ac:spMkLst>
        </pc:spChg>
        <pc:spChg chg="add mod">
          <ac:chgData name="Deepak Kumar" userId="4dfffa7df1c646d7" providerId="LiveId" clId="{20C47A69-9507-4E02-9601-2539ACCFBFB7}" dt="2026-10-05T11:17:29.660" v="454" actId="20577"/>
          <ac:spMkLst>
            <pc:docMk/>
            <pc:sldMk cId="3169990660" sldId="258"/>
            <ac:spMk id="30" creationId="{DD6C4694-875D-0B17-7A3C-729947BB251A}"/>
          </ac:spMkLst>
        </pc:spChg>
        <pc:spChg chg="add mod">
          <ac:chgData name="Deepak Kumar" userId="4dfffa7df1c646d7" providerId="LiveId" clId="{20C47A69-9507-4E02-9601-2539ACCFBFB7}" dt="2026-10-05T11:18:22.879" v="501" actId="20577"/>
          <ac:spMkLst>
            <pc:docMk/>
            <pc:sldMk cId="3169990660" sldId="258"/>
            <ac:spMk id="32" creationId="{85B11B5B-CA6A-FAD3-8C60-8B7D96538573}"/>
          </ac:spMkLst>
        </pc:spChg>
        <pc:spChg chg="add mod">
          <ac:chgData name="Deepak Kumar" userId="4dfffa7df1c646d7" providerId="LiveId" clId="{20C47A69-9507-4E02-9601-2539ACCFBFB7}" dt="2026-10-05T11:19:07.818" v="547" actId="20577"/>
          <ac:spMkLst>
            <pc:docMk/>
            <pc:sldMk cId="3169990660" sldId="258"/>
            <ac:spMk id="34" creationId="{C77213E8-A521-2E39-F5F4-D3D03259581A}"/>
          </ac:spMkLst>
        </pc:spChg>
      </pc:sldChg>
      <pc:sldChg chg="addSp modSp new mod ord">
        <pc:chgData name="Deepak Kumar" userId="4dfffa7df1c646d7" providerId="LiveId" clId="{20C47A69-9507-4E02-9601-2539ACCFBFB7}" dt="2026-10-06T06:00:15.775" v="1259" actId="113"/>
        <pc:sldMkLst>
          <pc:docMk/>
          <pc:sldMk cId="980902830" sldId="259"/>
        </pc:sldMkLst>
        <pc:spChg chg="add mod">
          <ac:chgData name="Deepak Kumar" userId="4dfffa7df1c646d7" providerId="LiveId" clId="{20C47A69-9507-4E02-9601-2539ACCFBFB7}" dt="2026-10-06T05:45:53.427" v="587" actId="2711"/>
          <ac:spMkLst>
            <pc:docMk/>
            <pc:sldMk cId="980902830" sldId="259"/>
            <ac:spMk id="2" creationId="{5DA02292-5455-22B2-A492-D44D95065823}"/>
          </ac:spMkLst>
        </pc:spChg>
        <pc:spChg chg="add mod">
          <ac:chgData name="Deepak Kumar" userId="4dfffa7df1c646d7" providerId="LiveId" clId="{20C47A69-9507-4E02-9601-2539ACCFBFB7}" dt="2026-10-06T05:47:47.546" v="596" actId="14861"/>
          <ac:spMkLst>
            <pc:docMk/>
            <pc:sldMk cId="980902830" sldId="259"/>
            <ac:spMk id="3" creationId="{DD614DEA-F3DB-AEEE-F88C-5D36406D3498}"/>
          </ac:spMkLst>
        </pc:spChg>
        <pc:spChg chg="add mod">
          <ac:chgData name="Deepak Kumar" userId="4dfffa7df1c646d7" providerId="LiveId" clId="{20C47A69-9507-4E02-9601-2539ACCFBFB7}" dt="2026-10-06T06:00:15.775" v="1259" actId="113"/>
          <ac:spMkLst>
            <pc:docMk/>
            <pc:sldMk cId="980902830" sldId="259"/>
            <ac:spMk id="4" creationId="{B8E51C63-DE84-553B-7305-17F05C84E279}"/>
          </ac:spMkLst>
        </pc:spChg>
      </pc:sldChg>
      <pc:sldChg chg="addSp delSp modSp new mod">
        <pc:chgData name="Deepak Kumar" userId="4dfffa7df1c646d7" providerId="LiveId" clId="{20C47A69-9507-4E02-9601-2539ACCFBFB7}" dt="2026-10-07T07:15:32.990" v="4950" actId="20577"/>
        <pc:sldMkLst>
          <pc:docMk/>
          <pc:sldMk cId="4088180254" sldId="260"/>
        </pc:sldMkLst>
        <pc:spChg chg="add mod">
          <ac:chgData name="Deepak Kumar" userId="4dfffa7df1c646d7" providerId="LiveId" clId="{20C47A69-9507-4E02-9601-2539ACCFBFB7}" dt="2026-10-07T07:15:32.990" v="4950" actId="20577"/>
          <ac:spMkLst>
            <pc:docMk/>
            <pc:sldMk cId="4088180254" sldId="260"/>
            <ac:spMk id="2" creationId="{4E53C645-F370-0320-B6A8-1322DF528CCF}"/>
          </ac:spMkLst>
        </pc:spChg>
        <pc:spChg chg="add mod">
          <ac:chgData name="Deepak Kumar" userId="4dfffa7df1c646d7" providerId="LiveId" clId="{20C47A69-9507-4E02-9601-2539ACCFBFB7}" dt="2026-10-06T06:09:47.708" v="1448" actId="1076"/>
          <ac:spMkLst>
            <pc:docMk/>
            <pc:sldMk cId="4088180254" sldId="260"/>
            <ac:spMk id="3" creationId="{50371EC2-0AA5-A5EE-7BE8-3381DDF68128}"/>
          </ac:spMkLst>
        </pc:spChg>
        <pc:spChg chg="add mod">
          <ac:chgData name="Deepak Kumar" userId="4dfffa7df1c646d7" providerId="LiveId" clId="{20C47A69-9507-4E02-9601-2539ACCFBFB7}" dt="2026-10-06T06:06:00.843" v="1354" actId="2711"/>
          <ac:spMkLst>
            <pc:docMk/>
            <pc:sldMk cId="4088180254" sldId="260"/>
            <ac:spMk id="4" creationId="{C6E64863-48E5-2F4B-37DD-FB1A8CC7A0FD}"/>
          </ac:spMkLst>
        </pc:spChg>
        <pc:spChg chg="add mod">
          <ac:chgData name="Deepak Kumar" userId="4dfffa7df1c646d7" providerId="LiveId" clId="{20C47A69-9507-4E02-9601-2539ACCFBFB7}" dt="2026-10-06T06:11:13.933" v="1499" actId="2711"/>
          <ac:spMkLst>
            <pc:docMk/>
            <pc:sldMk cId="4088180254" sldId="260"/>
            <ac:spMk id="9" creationId="{62E13FE0-DB4B-E4AF-EEE5-3C45D9D31EC4}"/>
          </ac:spMkLst>
        </pc:spChg>
        <pc:spChg chg="add mod">
          <ac:chgData name="Deepak Kumar" userId="4dfffa7df1c646d7" providerId="LiveId" clId="{20C47A69-9507-4E02-9601-2539ACCFBFB7}" dt="2026-10-06T06:11:52.590" v="1505" actId="1076"/>
          <ac:spMkLst>
            <pc:docMk/>
            <pc:sldMk cId="4088180254" sldId="260"/>
            <ac:spMk id="12" creationId="{3A3758ED-C556-3383-C83C-DC2F67B8BD21}"/>
          </ac:spMkLst>
        </pc:spChg>
        <pc:spChg chg="add mod">
          <ac:chgData name="Deepak Kumar" userId="4dfffa7df1c646d7" providerId="LiveId" clId="{20C47A69-9507-4E02-9601-2539ACCFBFB7}" dt="2026-10-06T06:12:06.218" v="1507" actId="1076"/>
          <ac:spMkLst>
            <pc:docMk/>
            <pc:sldMk cId="4088180254" sldId="260"/>
            <ac:spMk id="17" creationId="{F85E80E7-580B-03A9-76AA-A84674434AC6}"/>
          </ac:spMkLst>
        </pc:spChg>
        <pc:spChg chg="add mod">
          <ac:chgData name="Deepak Kumar" userId="4dfffa7df1c646d7" providerId="LiveId" clId="{20C47A69-9507-4E02-9601-2539ACCFBFB7}" dt="2026-10-06T06:12:26.154" v="1510" actId="1076"/>
          <ac:spMkLst>
            <pc:docMk/>
            <pc:sldMk cId="4088180254" sldId="260"/>
            <ac:spMk id="20" creationId="{6A341BCF-5315-B2B8-6A96-820A5CB79812}"/>
          </ac:spMkLst>
        </pc:spChg>
        <pc:spChg chg="add mod">
          <ac:chgData name="Deepak Kumar" userId="4dfffa7df1c646d7" providerId="LiveId" clId="{20C47A69-9507-4E02-9601-2539ACCFBFB7}" dt="2026-10-06T06:12:47.440" v="1513" actId="1076"/>
          <ac:spMkLst>
            <pc:docMk/>
            <pc:sldMk cId="4088180254" sldId="260"/>
            <ac:spMk id="23" creationId="{D0CF4DE3-C675-E0D7-DA6F-A2CE4C22DCB1}"/>
          </ac:spMkLst>
        </pc:spChg>
        <pc:picChg chg="add mod">
          <ac:chgData name="Deepak Kumar" userId="4dfffa7df1c646d7" providerId="LiveId" clId="{20C47A69-9507-4E02-9601-2539ACCFBFB7}" dt="2026-10-06T06:12:19.890" v="1509" actId="1076"/>
          <ac:picMkLst>
            <pc:docMk/>
            <pc:sldMk cId="4088180254" sldId="260"/>
            <ac:picMk id="7" creationId="{4F741BCC-4B50-4F78-D049-720CE0D26C36}"/>
          </ac:picMkLst>
        </pc:picChg>
        <pc:picChg chg="add mod">
          <ac:chgData name="Deepak Kumar" userId="4dfffa7df1c646d7" providerId="LiveId" clId="{20C47A69-9507-4E02-9601-2539ACCFBFB7}" dt="2026-10-06T06:11:56.826" v="1506" actId="1076"/>
          <ac:picMkLst>
            <pc:docMk/>
            <pc:sldMk cId="4088180254" sldId="260"/>
            <ac:picMk id="11" creationId="{DB35C69B-0C41-3A2F-C481-A66E3B306F0F}"/>
          </ac:picMkLst>
        </pc:picChg>
        <pc:picChg chg="add mod">
          <ac:chgData name="Deepak Kumar" userId="4dfffa7df1c646d7" providerId="LiveId" clId="{20C47A69-9507-4E02-9601-2539ACCFBFB7}" dt="2026-10-06T06:12:40.882" v="1512" actId="1076"/>
          <ac:picMkLst>
            <pc:docMk/>
            <pc:sldMk cId="4088180254" sldId="260"/>
            <ac:picMk id="16" creationId="{6C9B2574-3B80-15BF-DD8C-326BDF33D249}"/>
          </ac:picMkLst>
        </pc:picChg>
        <pc:picChg chg="add mod">
          <ac:chgData name="Deepak Kumar" userId="4dfffa7df1c646d7" providerId="LiveId" clId="{20C47A69-9507-4E02-9601-2539ACCFBFB7}" dt="2026-10-06T06:12:36.730" v="1511" actId="1076"/>
          <ac:picMkLst>
            <pc:docMk/>
            <pc:sldMk cId="4088180254" sldId="260"/>
            <ac:picMk id="19" creationId="{E00DFD1D-C920-5554-598A-65B59A47BA7B}"/>
          </ac:picMkLst>
        </pc:picChg>
        <pc:picChg chg="add mod">
          <ac:chgData name="Deepak Kumar" userId="4dfffa7df1c646d7" providerId="LiveId" clId="{20C47A69-9507-4E02-9601-2539ACCFBFB7}" dt="2026-10-06T06:12:52.274" v="1514" actId="1076"/>
          <ac:picMkLst>
            <pc:docMk/>
            <pc:sldMk cId="4088180254" sldId="260"/>
            <ac:picMk id="22" creationId="{18339F22-8792-75B3-7DE8-68F1404129FB}"/>
          </ac:picMkLst>
        </pc:picChg>
      </pc:sldChg>
      <pc:sldChg chg="addSp delSp modSp new mod ord">
        <pc:chgData name="Deepak Kumar" userId="4dfffa7df1c646d7" providerId="LiveId" clId="{20C47A69-9507-4E02-9601-2539ACCFBFB7}" dt="2026-10-06T06:24:59.717" v="1812" actId="1076"/>
        <pc:sldMkLst>
          <pc:docMk/>
          <pc:sldMk cId="2289051071" sldId="261"/>
        </pc:sldMkLst>
        <pc:spChg chg="add mod">
          <ac:chgData name="Deepak Kumar" userId="4dfffa7df1c646d7" providerId="LiveId" clId="{20C47A69-9507-4E02-9601-2539ACCFBFB7}" dt="2026-10-06T06:16:27.503" v="1545" actId="1076"/>
          <ac:spMkLst>
            <pc:docMk/>
            <pc:sldMk cId="2289051071" sldId="261"/>
            <ac:spMk id="3" creationId="{C55E7856-4BE3-CEAD-38D3-27FA169D416D}"/>
          </ac:spMkLst>
        </pc:spChg>
        <pc:spChg chg="add mod">
          <ac:chgData name="Deepak Kumar" userId="4dfffa7df1c646d7" providerId="LiveId" clId="{20C47A69-9507-4E02-9601-2539ACCFBFB7}" dt="2026-10-06T06:23:23.739" v="1736" actId="1076"/>
          <ac:spMkLst>
            <pc:docMk/>
            <pc:sldMk cId="2289051071" sldId="261"/>
            <ac:spMk id="6" creationId="{430E25F4-F94D-0C61-A1C2-FBF17974A365}"/>
          </ac:spMkLst>
        </pc:spChg>
        <pc:spChg chg="add mod">
          <ac:chgData name="Deepak Kumar" userId="4dfffa7df1c646d7" providerId="LiveId" clId="{20C47A69-9507-4E02-9601-2539ACCFBFB7}" dt="2026-10-06T06:21:05.002" v="1660" actId="14100"/>
          <ac:spMkLst>
            <pc:docMk/>
            <pc:sldMk cId="2289051071" sldId="261"/>
            <ac:spMk id="8" creationId="{A768F866-07A4-DCDF-1522-9830ECA3CCFF}"/>
          </ac:spMkLst>
        </pc:spChg>
        <pc:spChg chg="add mod">
          <ac:chgData name="Deepak Kumar" userId="4dfffa7df1c646d7" providerId="LiveId" clId="{20C47A69-9507-4E02-9601-2539ACCFBFB7}" dt="2026-10-06T06:23:38.474" v="1740" actId="1076"/>
          <ac:spMkLst>
            <pc:docMk/>
            <pc:sldMk cId="2289051071" sldId="261"/>
            <ac:spMk id="10" creationId="{B3520807-26BD-9925-9652-7B59474BFC4C}"/>
          </ac:spMkLst>
        </pc:spChg>
        <pc:spChg chg="add mod">
          <ac:chgData name="Deepak Kumar" userId="4dfffa7df1c646d7" providerId="LiveId" clId="{20C47A69-9507-4E02-9601-2539ACCFBFB7}" dt="2026-10-06T06:23:34.373" v="1738" actId="1076"/>
          <ac:spMkLst>
            <pc:docMk/>
            <pc:sldMk cId="2289051071" sldId="261"/>
            <ac:spMk id="15" creationId="{F9FCA17B-243E-B036-1FD2-0B745BAA659B}"/>
          </ac:spMkLst>
        </pc:spChg>
        <pc:spChg chg="add mod">
          <ac:chgData name="Deepak Kumar" userId="4dfffa7df1c646d7" providerId="LiveId" clId="{20C47A69-9507-4E02-9601-2539ACCFBFB7}" dt="2026-10-06T06:23:37.927" v="1739" actId="1076"/>
          <ac:spMkLst>
            <pc:docMk/>
            <pc:sldMk cId="2289051071" sldId="261"/>
            <ac:spMk id="20" creationId="{A83ABA53-F940-ED02-850B-D3F4B8D944D8}"/>
          </ac:spMkLst>
        </pc:spChg>
        <pc:spChg chg="add mod">
          <ac:chgData name="Deepak Kumar" userId="4dfffa7df1c646d7" providerId="LiveId" clId="{20C47A69-9507-4E02-9601-2539ACCFBFB7}" dt="2026-10-06T06:24:59.717" v="1812" actId="1076"/>
          <ac:spMkLst>
            <pc:docMk/>
            <pc:sldMk cId="2289051071" sldId="261"/>
            <ac:spMk id="22" creationId="{AF42E7FC-54D2-B81C-B279-6369F96F2CFF}"/>
          </ac:spMkLst>
        </pc:spChg>
        <pc:picChg chg="add mod">
          <ac:chgData name="Deepak Kumar" userId="4dfffa7df1c646d7" providerId="LiveId" clId="{20C47A69-9507-4E02-9601-2539ACCFBFB7}" dt="2026-10-06T06:17:32.194" v="1552" actId="14861"/>
          <ac:picMkLst>
            <pc:docMk/>
            <pc:sldMk cId="2289051071" sldId="261"/>
            <ac:picMk id="5" creationId="{BA031C0F-81F3-58B9-5743-170B400FE32E}"/>
          </ac:picMkLst>
        </pc:picChg>
        <pc:cxnChg chg="add mod">
          <ac:chgData name="Deepak Kumar" userId="4dfffa7df1c646d7" providerId="LiveId" clId="{20C47A69-9507-4E02-9601-2539ACCFBFB7}" dt="2026-10-06T06:23:23.739" v="1736" actId="1076"/>
          <ac:cxnSpMkLst>
            <pc:docMk/>
            <pc:sldMk cId="2289051071" sldId="261"/>
            <ac:cxnSpMk id="12" creationId="{AD19237F-1E83-D02F-020D-B98920F21B50}"/>
          </ac:cxnSpMkLst>
        </pc:cxnChg>
        <pc:cxnChg chg="add mod">
          <ac:chgData name="Deepak Kumar" userId="4dfffa7df1c646d7" providerId="LiveId" clId="{20C47A69-9507-4E02-9601-2539ACCFBFB7}" dt="2026-10-06T06:21:12.847" v="1662" actId="1076"/>
          <ac:cxnSpMkLst>
            <pc:docMk/>
            <pc:sldMk cId="2289051071" sldId="261"/>
            <ac:cxnSpMk id="13" creationId="{5B6F6382-31C0-EC09-B5CE-F1D8F8832972}"/>
          </ac:cxnSpMkLst>
        </pc:cxnChg>
        <pc:cxnChg chg="add mod">
          <ac:chgData name="Deepak Kumar" userId="4dfffa7df1c646d7" providerId="LiveId" clId="{20C47A69-9507-4E02-9601-2539ACCFBFB7}" dt="2026-10-06T06:20:59.054" v="1658" actId="1076"/>
          <ac:cxnSpMkLst>
            <pc:docMk/>
            <pc:sldMk cId="2289051071" sldId="261"/>
            <ac:cxnSpMk id="14" creationId="{C507FAB8-DC20-C2A2-046B-A0FA326B22F1}"/>
          </ac:cxnSpMkLst>
        </pc:cxnChg>
      </pc:sldChg>
      <pc:sldChg chg="addSp delSp modSp new mod">
        <pc:chgData name="Deepak Kumar" userId="4dfffa7df1c646d7" providerId="LiveId" clId="{20C47A69-9507-4E02-9601-2539ACCFBFB7}" dt="2026-10-06T09:08:04.590" v="4923" actId="20577"/>
        <pc:sldMkLst>
          <pc:docMk/>
          <pc:sldMk cId="261171535" sldId="262"/>
        </pc:sldMkLst>
        <pc:spChg chg="add mod">
          <ac:chgData name="Deepak Kumar" userId="4dfffa7df1c646d7" providerId="LiveId" clId="{20C47A69-9507-4E02-9601-2539ACCFBFB7}" dt="2026-10-06T06:26:50.396" v="1828" actId="1076"/>
          <ac:spMkLst>
            <pc:docMk/>
            <pc:sldMk cId="261171535" sldId="262"/>
            <ac:spMk id="2" creationId="{A3B1346F-E31E-7EE5-AC3D-AEB7E0FEAEC5}"/>
          </ac:spMkLst>
        </pc:spChg>
        <pc:spChg chg="add mod">
          <ac:chgData name="Deepak Kumar" userId="4dfffa7df1c646d7" providerId="LiveId" clId="{20C47A69-9507-4E02-9601-2539ACCFBFB7}" dt="2026-10-06T09:08:04.590" v="4923" actId="20577"/>
          <ac:spMkLst>
            <pc:docMk/>
            <pc:sldMk cId="261171535" sldId="262"/>
            <ac:spMk id="7" creationId="{EDD9517E-1F4F-B8F6-E437-9D9ACD02E885}"/>
          </ac:spMkLst>
        </pc:spChg>
        <pc:picChg chg="add mod">
          <ac:chgData name="Deepak Kumar" userId="4dfffa7df1c646d7" providerId="LiveId" clId="{20C47A69-9507-4E02-9601-2539ACCFBFB7}" dt="2026-10-06T06:37:46.273" v="2138" actId="1076"/>
          <ac:picMkLst>
            <pc:docMk/>
            <pc:sldMk cId="261171535" sldId="262"/>
            <ac:picMk id="6" creationId="{746385EF-EA73-FDDF-AD25-5291D544DB10}"/>
          </ac:picMkLst>
        </pc:picChg>
        <pc:picChg chg="add mod">
          <ac:chgData name="Deepak Kumar" userId="4dfffa7df1c646d7" providerId="LiveId" clId="{20C47A69-9507-4E02-9601-2539ACCFBFB7}" dt="2026-10-06T06:37:54.415" v="2139" actId="1076"/>
          <ac:picMkLst>
            <pc:docMk/>
            <pc:sldMk cId="261171535" sldId="262"/>
            <ac:picMk id="9" creationId="{BBF664FB-A5B6-ABC5-F089-C07E2EBEDD44}"/>
          </ac:picMkLst>
        </pc:picChg>
        <pc:picChg chg="add mod">
          <ac:chgData name="Deepak Kumar" userId="4dfffa7df1c646d7" providerId="LiveId" clId="{20C47A69-9507-4E02-9601-2539ACCFBFB7}" dt="2026-10-06T06:41:35.719" v="2293" actId="1076"/>
          <ac:picMkLst>
            <pc:docMk/>
            <pc:sldMk cId="261171535" sldId="262"/>
            <ac:picMk id="11" creationId="{321EB615-E9AD-1FC6-0B34-050EDC980880}"/>
          </ac:picMkLst>
        </pc:picChg>
        <pc:picChg chg="add mod">
          <ac:chgData name="Deepak Kumar" userId="4dfffa7df1c646d7" providerId="LiveId" clId="{20C47A69-9507-4E02-9601-2539ACCFBFB7}" dt="2026-10-06T06:44:30.396" v="2470" actId="1076"/>
          <ac:picMkLst>
            <pc:docMk/>
            <pc:sldMk cId="261171535" sldId="262"/>
            <ac:picMk id="13" creationId="{77988689-DA88-02D8-F587-A82D4FFAEF48}"/>
          </ac:picMkLst>
        </pc:picChg>
        <pc:picChg chg="add mod">
          <ac:chgData name="Deepak Kumar" userId="4dfffa7df1c646d7" providerId="LiveId" clId="{20C47A69-9507-4E02-9601-2539ACCFBFB7}" dt="2026-10-06T06:48:47.333" v="2687" actId="1076"/>
          <ac:picMkLst>
            <pc:docMk/>
            <pc:sldMk cId="261171535" sldId="262"/>
            <ac:picMk id="15" creationId="{814A3BC8-B9AD-DADF-CAF9-11427D1D80E1}"/>
          </ac:picMkLst>
        </pc:picChg>
        <pc:picChg chg="add mod">
          <ac:chgData name="Deepak Kumar" userId="4dfffa7df1c646d7" providerId="LiveId" clId="{20C47A69-9507-4E02-9601-2539ACCFBFB7}" dt="2026-10-06T07:08:34.846" v="3346" actId="1076"/>
          <ac:picMkLst>
            <pc:docMk/>
            <pc:sldMk cId="261171535" sldId="262"/>
            <ac:picMk id="17" creationId="{A27A4EBE-886D-C782-4BCC-89E962740DB4}"/>
          </ac:picMkLst>
        </pc:picChg>
        <pc:picChg chg="add mod">
          <ac:chgData name="Deepak Kumar" userId="4dfffa7df1c646d7" providerId="LiveId" clId="{20C47A69-9507-4E02-9601-2539ACCFBFB7}" dt="2026-10-06T07:08:39.949" v="3348" actId="1076"/>
          <ac:picMkLst>
            <pc:docMk/>
            <pc:sldMk cId="261171535" sldId="262"/>
            <ac:picMk id="19" creationId="{192F189B-E3A6-7138-F23C-E5570B58FDB2}"/>
          </ac:picMkLst>
        </pc:picChg>
      </pc:sldChg>
      <pc:sldChg chg="addSp modSp new mod">
        <pc:chgData name="Deepak Kumar" userId="4dfffa7df1c646d7" providerId="LiveId" clId="{20C47A69-9507-4E02-9601-2539ACCFBFB7}" dt="2026-10-06T07:42:22.676" v="4855" actId="20577"/>
        <pc:sldMkLst>
          <pc:docMk/>
          <pc:sldMk cId="3496424483" sldId="263"/>
        </pc:sldMkLst>
        <pc:spChg chg="add mod">
          <ac:chgData name="Deepak Kumar" userId="4dfffa7df1c646d7" providerId="LiveId" clId="{20C47A69-9507-4E02-9601-2539ACCFBFB7}" dt="2026-10-06T07:17:50.880" v="3525" actId="1076"/>
          <ac:spMkLst>
            <pc:docMk/>
            <pc:sldMk cId="3496424483" sldId="263"/>
            <ac:spMk id="2" creationId="{72D547DB-88D8-0826-27BA-A96E03CAD092}"/>
          </ac:spMkLst>
        </pc:spChg>
        <pc:spChg chg="add mod">
          <ac:chgData name="Deepak Kumar" userId="4dfffa7df1c646d7" providerId="LiveId" clId="{20C47A69-9507-4E02-9601-2539ACCFBFB7}" dt="2026-10-06T07:42:22.676" v="4855" actId="20577"/>
          <ac:spMkLst>
            <pc:docMk/>
            <pc:sldMk cId="3496424483" sldId="263"/>
            <ac:spMk id="3" creationId="{23C2D7D7-50C9-622D-7031-5D06E5BCA89E}"/>
          </ac:spMkLst>
        </pc:spChg>
      </pc:sldChg>
      <pc:sldChg chg="addSp modSp new mod">
        <pc:chgData name="Deepak Kumar" userId="4dfffa7df1c646d7" providerId="LiveId" clId="{20C47A69-9507-4E02-9601-2539ACCFBFB7}" dt="2026-10-06T07:43:21.209" v="4889" actId="1076"/>
        <pc:sldMkLst>
          <pc:docMk/>
          <pc:sldMk cId="1172448618" sldId="264"/>
        </pc:sldMkLst>
        <pc:spChg chg="add mod">
          <ac:chgData name="Deepak Kumar" userId="4dfffa7df1c646d7" providerId="LiveId" clId="{20C47A69-9507-4E02-9601-2539ACCFBFB7}" dt="2026-10-06T07:43:21.209" v="4889" actId="1076"/>
          <ac:spMkLst>
            <pc:docMk/>
            <pc:sldMk cId="1172448618" sldId="264"/>
            <ac:spMk id="2" creationId="{E327915A-89D9-2BA7-9403-7475B5F00F3A}"/>
          </ac:spMkLst>
        </pc:spChg>
      </pc:sldChg>
      <pc:sldChg chg="addSp modSp new mod">
        <pc:chgData name="Deepak Kumar" userId="4dfffa7df1c646d7" providerId="LiveId" clId="{20C47A69-9507-4E02-9601-2539ACCFBFB7}" dt="2026-10-07T10:43:20.595" v="4989" actId="14100"/>
        <pc:sldMkLst>
          <pc:docMk/>
          <pc:sldMk cId="407710843" sldId="265"/>
        </pc:sldMkLst>
        <pc:picChg chg="add mod">
          <ac:chgData name="Deepak Kumar" userId="4dfffa7df1c646d7" providerId="LiveId" clId="{20C47A69-9507-4E02-9601-2539ACCFBFB7}" dt="2026-10-07T10:43:20.595" v="4989" actId="14100"/>
          <ac:picMkLst>
            <pc:docMk/>
            <pc:sldMk cId="407710843" sldId="265"/>
            <ac:picMk id="3" creationId="{81B9D3D6-AFA1-786A-AE19-DFEE67A2393E}"/>
          </ac:picMkLst>
        </pc:picChg>
      </pc:sldChg>
      <pc:sldChg chg="addSp modSp new mod">
        <pc:chgData name="Deepak Kumar" userId="4dfffa7df1c646d7" providerId="LiveId" clId="{20C47A69-9507-4E02-9601-2539ACCFBFB7}" dt="2026-10-07T10:43:33.813" v="4991" actId="14100"/>
        <pc:sldMkLst>
          <pc:docMk/>
          <pc:sldMk cId="1831272456" sldId="266"/>
        </pc:sldMkLst>
        <pc:picChg chg="add mod">
          <ac:chgData name="Deepak Kumar" userId="4dfffa7df1c646d7" providerId="LiveId" clId="{20C47A69-9507-4E02-9601-2539ACCFBFB7}" dt="2026-10-07T10:43:33.813" v="4991" actId="14100"/>
          <ac:picMkLst>
            <pc:docMk/>
            <pc:sldMk cId="1831272456" sldId="266"/>
            <ac:picMk id="3" creationId="{0B29B7DE-0689-7907-06E4-AD7BA50AF863}"/>
          </ac:picMkLst>
        </pc:picChg>
      </pc:sldChg>
      <pc:sldChg chg="addSp modSp new mod">
        <pc:chgData name="Deepak Kumar" userId="4dfffa7df1c646d7" providerId="LiveId" clId="{20C47A69-9507-4E02-9601-2539ACCFBFB7}" dt="2026-10-08T05:43:47.029" v="4999" actId="14100"/>
        <pc:sldMkLst>
          <pc:docMk/>
          <pc:sldMk cId="3842641482" sldId="267"/>
        </pc:sldMkLst>
        <pc:picChg chg="add mod">
          <ac:chgData name="Deepak Kumar" userId="4dfffa7df1c646d7" providerId="LiveId" clId="{20C47A69-9507-4E02-9601-2539ACCFBFB7}" dt="2026-10-08T05:43:47.029" v="4999" actId="14100"/>
          <ac:picMkLst>
            <pc:docMk/>
            <pc:sldMk cId="3842641482" sldId="267"/>
            <ac:picMk id="3" creationId="{3533C3E3-4642-DAF3-D2A0-44D322C0537C}"/>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fld id="{2FD77853-DD07-4174-91D9-623E818D7B3C}" type="datetimeFigureOut">
              <a:rPr lang="en-US" smtClean="0"/>
              <a:t>10/8/2026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F0228C21-7B95-4BB9-A6A8-0FA75CC84269}" type="slidenum">
              <a:rPr lang="en-US" smtClean="0"/>
              <a:t>‹#›</a:t>
            </a:fld>
            <a:endParaRPr lang="en-US"/>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8627852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endParaRPr lang="en-US"/>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fld id="{2FD77853-DD07-4174-91D9-623E818D7B3C}" type="datetimeFigureOut">
              <a:rPr lang="en-US" smtClean="0"/>
              <a:t>10/8/2026</a:t>
            </a:fld>
            <a:endParaRPr lang="en-US"/>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fld id="{F0228C21-7B95-4BB9-A6A8-0FA75CC84269}"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84094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endParaRPr lang="en-US"/>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2FD77853-DD07-4174-91D9-623E818D7B3C}" type="datetimeFigureOut">
              <a:rPr lang="en-US" smtClean="0"/>
              <a:t>10/8/2026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F0228C21-7B95-4BB9-A6A8-0FA75CC84269}" type="slidenum">
              <a:rPr lang="en-US" smtClean="0"/>
              <a:t>‹#›</a:t>
            </a:fld>
            <a:endParaRPr 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951139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2FD77853-DD07-4174-91D9-623E818D7B3C}" type="datetimeFigureOut">
              <a:rPr lang="en-US" smtClean="0"/>
              <a:t>10/8/2026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F0228C21-7B95-4BB9-A6A8-0FA75CC84269}" type="slidenum">
              <a:rPr lang="en-US" smtClean="0"/>
              <a:t>‹#›</a:t>
            </a:fld>
            <a:endParaRPr lang="en-US"/>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878231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C8350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2FD77853-DD07-4174-91D9-623E818D7B3C}" type="datetimeFigureOut">
              <a:rPr lang="en-US" smtClean="0"/>
              <a:t>10/8/2026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F0228C21-7B95-4BB9-A6A8-0FA75CC84269}"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1093945"/>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fld id="{2FD77853-DD07-4174-91D9-623E818D7B3C}" type="datetimeFigureOut">
              <a:rPr lang="en-US" smtClean="0"/>
              <a:t>10/8/2026</a:t>
            </a:fld>
            <a:endParaRPr lang="en-US"/>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fld id="{F0228C21-7B95-4BB9-A6A8-0FA75CC84269}" type="slidenum">
              <a:rPr lang="en-US" smtClean="0"/>
              <a:t>‹#›</a:t>
            </a:fld>
            <a:endParaRPr lang="en-US"/>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47491152"/>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fld id="{2FD77853-DD07-4174-91D9-623E818D7B3C}" type="datetimeFigureOut">
              <a:rPr lang="en-US" smtClean="0"/>
              <a:t>10/8/2026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F0228C21-7B95-4BB9-A6A8-0FA75CC84269}" type="slidenum">
              <a:rPr lang="en-US" smtClean="0"/>
              <a:t>‹#›</a:t>
            </a:fld>
            <a:endParaRPr lang="en-US"/>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41236044"/>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fld id="{2FD77853-DD07-4174-91D9-623E818D7B3C}" type="datetimeFigureOut">
              <a:rPr lang="en-US" smtClean="0"/>
              <a:t>10/8/2026</a:t>
            </a:fld>
            <a:endParaRPr lang="en-US"/>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fld id="{F0228C21-7B95-4BB9-A6A8-0FA75CC84269}"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8788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fld id="{2FD77853-DD07-4174-91D9-623E818D7B3C}" type="datetimeFigureOut">
              <a:rPr lang="en-US" smtClean="0"/>
              <a:t>10/8/2026</a:t>
            </a:fld>
            <a:endParaRPr lang="en-US"/>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fld id="{F0228C21-7B95-4BB9-A6A8-0FA75CC84269}"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11297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2FD77853-DD07-4174-91D9-623E818D7B3C}" type="datetimeFigureOut">
              <a:rPr lang="en-US" smtClean="0"/>
              <a:t>10/8/2026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F0228C21-7B95-4BB9-A6A8-0FA75CC84269}"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2157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endParaRPr lang="en-US"/>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2FD77853-DD07-4174-91D9-623E818D7B3C}" type="datetimeFigureOut">
              <a:rPr lang="en-US" smtClean="0"/>
              <a:t>10/8/2026</a:t>
            </a:fld>
            <a:endParaRPr lang="en-US"/>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F0228C21-7B95-4BB9-A6A8-0FA75CC84269}"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55147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endParaRPr lang="en-US"/>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2FD77853-DD07-4174-91D9-623E818D7B3C}" type="datetimeFigureOut">
              <a:rPr lang="en-US" smtClean="0"/>
              <a:t>10/8/2026</a:t>
            </a:fld>
            <a:endParaRPr lang="en-US"/>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F0228C21-7B95-4BB9-A6A8-0FA75CC84269}"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22853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2FD77853-DD07-4174-91D9-623E818D7B3C}" type="datetimeFigureOut">
              <a:rPr lang="en-US" smtClean="0"/>
              <a:t>10/8/2026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F0228C21-7B95-4BB9-A6A8-0FA75CC84269}"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912114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fld id="{2FD77853-DD07-4174-91D9-623E818D7B3C}" type="datetimeFigureOut">
              <a:rPr lang="en-US" smtClean="0"/>
              <a:t>10/8/2026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fld id="{F0228C21-7B95-4BB9-A6A8-0FA75CC84269}"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17191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fld id="{2FD77853-DD07-4174-91D9-623E818D7B3C}" type="datetimeFigureOut">
              <a:rPr lang="en-US" smtClean="0"/>
              <a:t>10/8/2026</a:t>
            </a:fld>
            <a:endParaRPr lang="en-US"/>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fld id="{F0228C21-7B95-4BB9-A6A8-0FA75CC84269}"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268607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fld id="{2FD77853-DD07-4174-91D9-623E818D7B3C}" type="datetimeFigureOut">
              <a:rPr lang="en-US" smtClean="0"/>
              <a:t>10/8/2026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fld id="{F0228C21-7B95-4BB9-A6A8-0FA75CC84269}"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11702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endParaRPr lang="en-US"/>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2FD77853-DD07-4174-91D9-623E818D7B3C}" type="datetimeFigureOut">
              <a:rPr lang="en-US" smtClean="0"/>
              <a:t>10/8/2026</a:t>
            </a:fld>
            <a:endParaRPr lang="en-US"/>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F0228C21-7B95-4BB9-A6A8-0FA75CC84269}"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479528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2FD77853-DD07-4174-91D9-623E818D7B3C}" type="datetimeFigureOut">
              <a:rPr lang="en-US" smtClean="0"/>
              <a:t>10/8/2026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fld id="{F0228C21-7B95-4BB9-A6A8-0FA75CC84269}"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602002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Number Larg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2FD77853-DD07-4174-91D9-623E818D7B3C}" type="datetimeFigureOut">
              <a:rPr lang="en-US" smtClean="0"/>
              <a:t>10/8/2026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F0228C21-7B95-4BB9-A6A8-0FA75CC84269}"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9431809"/>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ement">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fld id="{2FD77853-DD07-4174-91D9-623E818D7B3C}" type="datetimeFigureOut">
              <a:rPr lang="en-US" smtClean="0"/>
              <a:t>10/8/2026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fld id="{F0228C21-7B95-4BB9-A6A8-0FA75CC84269}" type="slidenum">
              <a:rPr lang="en-US" smtClean="0"/>
              <a:t>‹#›</a:t>
            </a:fld>
            <a:endParaRPr lang="en-US"/>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118099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2FD77853-DD07-4174-91D9-623E818D7B3C}" type="datetimeFigureOut">
              <a:rPr lang="en-US" smtClean="0"/>
              <a:t>10/8/2026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F0228C21-7B95-4BB9-A6A8-0FA75CC84269}"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7138166"/>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endParaRPr lang="en-US"/>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fld id="{2FD77853-DD07-4174-91D9-623E818D7B3C}" type="datetimeFigureOut">
              <a:rPr lang="en-US" smtClean="0"/>
              <a:t>10/8/2026</a:t>
            </a:fld>
            <a:endParaRPr lang="en-US"/>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fld id="{F0228C21-7B95-4BB9-A6A8-0FA75CC84269}" type="slidenum">
              <a:rPr lang="en-US" smtClean="0"/>
              <a:t>‹#›</a:t>
            </a:fld>
            <a:endParaRPr lang="en-US"/>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233128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2FD77853-DD07-4174-91D9-623E818D7B3C}" type="datetimeFigureOut">
              <a:rPr lang="en-US" smtClean="0"/>
              <a:t>10/8/2026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F0228C21-7B95-4BB9-A6A8-0FA75CC84269}" type="slidenum">
              <a:rPr lang="en-US" smtClean="0"/>
              <a:t>‹#›</a:t>
            </a:fld>
            <a:endParaRPr lang="en-US"/>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230716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fld id="{2FD77853-DD07-4174-91D9-623E818D7B3C}" type="datetimeFigureOut">
              <a:rPr lang="en-US" smtClean="0"/>
              <a:t>10/8/2026</a:t>
            </a:fld>
            <a:endParaRPr lang="en-US"/>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fld id="{F0228C21-7B95-4BB9-A6A8-0FA75CC84269}" type="slidenum">
              <a:rPr lang="en-US" smtClean="0"/>
              <a:t>‹#›</a:t>
            </a:fld>
            <a:endParaRPr lang="en-US"/>
          </a:p>
        </p:txBody>
      </p:sp>
    </p:spTree>
    <p:extLst>
      <p:ext uri="{BB962C8B-B14F-4D97-AF65-F5344CB8AC3E}">
        <p14:creationId xmlns:p14="http://schemas.microsoft.com/office/powerpoint/2010/main" val="39878786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fld id="{2FD77853-DD07-4174-91D9-623E818D7B3C}" type="datetimeFigureOut">
              <a:rPr lang="en-US" smtClean="0"/>
              <a:t>10/8/2026</a:t>
            </a:fld>
            <a:endParaRPr lang="en-US"/>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fld id="{F0228C21-7B95-4BB9-A6A8-0FA75CC84269}" type="slidenum">
              <a:rPr lang="en-US" smtClean="0"/>
              <a:t>‹#›</a:t>
            </a:fld>
            <a:endParaRPr lang="en-US"/>
          </a:p>
        </p:txBody>
      </p:sp>
    </p:spTree>
    <p:extLst>
      <p:ext uri="{BB962C8B-B14F-4D97-AF65-F5344CB8AC3E}">
        <p14:creationId xmlns:p14="http://schemas.microsoft.com/office/powerpoint/2010/main" val="41166501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clusion">
    <p:bg>
      <p:bgRef idx="1001">
        <a:schemeClr val="bg2"/>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fld id="{2FD77853-DD07-4174-91D9-623E818D7B3C}" type="datetimeFigureOut">
              <a:rPr lang="en-US" smtClean="0"/>
              <a:t>10/8/2026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fld id="{F0228C21-7B95-4BB9-A6A8-0FA75CC84269}"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24693793"/>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2FD77853-DD07-4174-91D9-623E818D7B3C}" type="datetimeFigureOut">
              <a:rPr lang="en-US" smtClean="0"/>
              <a:t>10/8/2026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F0228C21-7B95-4BB9-A6A8-0FA75CC84269}" type="slidenum">
              <a:rPr lang="en-US" smtClean="0"/>
              <a:t>‹#›</a:t>
            </a:fld>
            <a:endParaRPr lang="en-US"/>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2632955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endParaRPr lang="en-US"/>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2FD77853-DD07-4174-91D9-623E818D7B3C}" type="datetimeFigureOut">
              <a:rPr lang="en-US" smtClean="0"/>
              <a:t>10/8/2026</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F0228C21-7B95-4BB9-A6A8-0FA75CC84269}" type="slidenum">
              <a:rPr lang="en-US" smtClean="0"/>
              <a:t>‹#›</a:t>
            </a:fld>
            <a:endParaRPr lang="en-US"/>
          </a:p>
        </p:txBody>
      </p:sp>
      <p:sp>
        <p:nvSpPr>
          <p:cNvPr id="8" name="TextBox 7">
            <a:extLst>
              <a:ext uri="{FF2B5EF4-FFF2-40B4-BE49-F238E27FC236}">
                <a16:creationId xmlns:a16="http://schemas.microsoft.com/office/drawing/2014/main" id="{5F143C14-E680-3360-0E4D-DA502AF50E85}"/>
              </a:ext>
            </a:extLst>
          </p:cNvPr>
          <p:cNvSpPr txBox="1"/>
          <p:nvPr>
            <p:extLst>
              <p:ext uri="{1162E1C5-73C7-4A58-AE30-91384D911F3F}">
                <p184:classification xmlns:p184="http://schemas.microsoft.com/office/powerpoint/2018/4/main" val="ftr"/>
              </p:ext>
            </p:extLst>
          </p:nvPr>
        </p:nvSpPr>
        <p:spPr>
          <a:xfrm>
            <a:off x="63500" y="6642100"/>
            <a:ext cx="197802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Microsoft Confidential</a:t>
            </a:r>
          </a:p>
        </p:txBody>
      </p:sp>
    </p:spTree>
    <p:extLst>
      <p:ext uri="{BB962C8B-B14F-4D97-AF65-F5344CB8AC3E}">
        <p14:creationId xmlns:p14="http://schemas.microsoft.com/office/powerpoint/2010/main" val="46611906"/>
      </p:ext>
    </p:extLst>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 id="2147483834" r:id="rId12"/>
    <p:sldLayoutId id="2147483835" r:id="rId13"/>
    <p:sldLayoutId id="2147483836" r:id="rId14"/>
    <p:sldLayoutId id="2147483837" r:id="rId15"/>
    <p:sldLayoutId id="2147483838" r:id="rId16"/>
    <p:sldLayoutId id="2147483839" r:id="rId17"/>
    <p:sldLayoutId id="2147483840" r:id="rId18"/>
    <p:sldLayoutId id="2147483841" r:id="rId19"/>
    <p:sldLayoutId id="2147483842" r:id="rId20"/>
    <p:sldLayoutId id="2147483843" r:id="rId21"/>
    <p:sldLayoutId id="2147483844" r:id="rId22"/>
    <p:sldLayoutId id="2147483845" r:id="rId23"/>
    <p:sldLayoutId id="2147483846" r:id="rId24"/>
    <p:sldLayoutId id="2147483847" r:id="rId25"/>
    <p:sldLayoutId id="2147483848" r:id="rId26"/>
    <p:sldLayoutId id="2147483849" r:id="rId27"/>
  </p:sldLayoutIdLst>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8F9DAEB-B3EB-66AA-512C-43F6B90C31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9443" y="1806677"/>
            <a:ext cx="4444181" cy="405089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8" name="TextBox 7">
            <a:extLst>
              <a:ext uri="{FF2B5EF4-FFF2-40B4-BE49-F238E27FC236}">
                <a16:creationId xmlns:a16="http://schemas.microsoft.com/office/drawing/2014/main" id="{8FE5A408-04FB-BC69-0298-55CCA777E153}"/>
              </a:ext>
            </a:extLst>
          </p:cNvPr>
          <p:cNvSpPr txBox="1"/>
          <p:nvPr/>
        </p:nvSpPr>
        <p:spPr>
          <a:xfrm>
            <a:off x="1376516" y="88490"/>
            <a:ext cx="8790039" cy="369332"/>
          </a:xfrm>
          <a:prstGeom prst="rect">
            <a:avLst/>
          </a:prstGeom>
          <a:noFill/>
        </p:spPr>
        <p:txBody>
          <a:bodyPr wrap="square" rtlCol="0">
            <a:spAutoFit/>
          </a:bodyPr>
          <a:lstStyle/>
          <a:p>
            <a:pPr algn="ctr"/>
            <a:r>
              <a:rPr lang="en-US" dirty="0">
                <a:latin typeface="Bell MT" panose="02020503060305020303" pitchFamily="18" charset="0"/>
              </a:rPr>
              <a:t>SHIELD INSURANCE BUSINESS INSIGHTS</a:t>
            </a:r>
          </a:p>
        </p:txBody>
      </p:sp>
      <p:sp>
        <p:nvSpPr>
          <p:cNvPr id="10" name="TextBox 9">
            <a:extLst>
              <a:ext uri="{FF2B5EF4-FFF2-40B4-BE49-F238E27FC236}">
                <a16:creationId xmlns:a16="http://schemas.microsoft.com/office/drawing/2014/main" id="{1B5741AA-D67A-C19A-94FE-2AE81B6FC7F4}"/>
              </a:ext>
            </a:extLst>
          </p:cNvPr>
          <p:cNvSpPr txBox="1"/>
          <p:nvPr/>
        </p:nvSpPr>
        <p:spPr>
          <a:xfrm>
            <a:off x="1376515" y="561356"/>
            <a:ext cx="8790039" cy="646331"/>
          </a:xfrm>
          <a:prstGeom prst="rect">
            <a:avLst/>
          </a:prstGeom>
          <a:noFill/>
        </p:spPr>
        <p:txBody>
          <a:bodyPr wrap="square" rtlCol="0">
            <a:spAutoFit/>
          </a:bodyPr>
          <a:lstStyle/>
          <a:p>
            <a:pPr algn="ctr"/>
            <a:r>
              <a:rPr lang="en-US" dirty="0">
                <a:latin typeface="Bell MT" panose="02020503060305020303" pitchFamily="18" charset="0"/>
              </a:rPr>
              <a:t>INTRECTIVE BUSINESS INTLLIGENCE DASHBORD FOR </a:t>
            </a:r>
            <a:r>
              <a:rPr lang="en-US" b="1" dirty="0">
                <a:latin typeface="Bell MT" panose="02020503060305020303" pitchFamily="18" charset="0"/>
              </a:rPr>
              <a:t>REVENUE</a:t>
            </a:r>
            <a:r>
              <a:rPr lang="en-US" dirty="0">
                <a:latin typeface="Bell MT" panose="02020503060305020303" pitchFamily="18" charset="0"/>
              </a:rPr>
              <a:t>, </a:t>
            </a:r>
            <a:r>
              <a:rPr lang="en-US" b="1" dirty="0">
                <a:latin typeface="Bell MT" panose="02020503060305020303" pitchFamily="18" charset="0"/>
              </a:rPr>
              <a:t>CUSTOMER</a:t>
            </a:r>
            <a:r>
              <a:rPr lang="en-US" dirty="0">
                <a:latin typeface="Bell MT" panose="02020503060305020303" pitchFamily="18" charset="0"/>
              </a:rPr>
              <a:t>,</a:t>
            </a:r>
            <a:r>
              <a:rPr lang="en-US" b="1" dirty="0">
                <a:latin typeface="Bell MT" panose="02020503060305020303" pitchFamily="18" charset="0"/>
              </a:rPr>
              <a:t>SALES MODE</a:t>
            </a:r>
          </a:p>
        </p:txBody>
      </p:sp>
      <p:sp>
        <p:nvSpPr>
          <p:cNvPr id="12" name="TextBox 11">
            <a:extLst>
              <a:ext uri="{FF2B5EF4-FFF2-40B4-BE49-F238E27FC236}">
                <a16:creationId xmlns:a16="http://schemas.microsoft.com/office/drawing/2014/main" id="{1130E638-0AC6-A50B-9652-6FD67E7D47AC}"/>
              </a:ext>
            </a:extLst>
          </p:cNvPr>
          <p:cNvSpPr txBox="1"/>
          <p:nvPr/>
        </p:nvSpPr>
        <p:spPr>
          <a:xfrm>
            <a:off x="1442883" y="1311221"/>
            <a:ext cx="9306233" cy="369332"/>
          </a:xfrm>
          <a:prstGeom prst="rect">
            <a:avLst/>
          </a:prstGeom>
          <a:noFill/>
        </p:spPr>
        <p:txBody>
          <a:bodyPr wrap="square" rtlCol="0">
            <a:spAutoFit/>
          </a:bodyPr>
          <a:lstStyle/>
          <a:p>
            <a:pPr algn="ctr"/>
            <a:r>
              <a:rPr lang="en-US" b="1" dirty="0">
                <a:latin typeface="Bell MT" panose="02020503060305020303" pitchFamily="18" charset="0"/>
              </a:rPr>
              <a:t>DOMAIN : INSURANCE| FUNCTION : CUSTOMER AND SALES MODE ANALYSIS</a:t>
            </a:r>
          </a:p>
        </p:txBody>
      </p:sp>
      <p:sp>
        <p:nvSpPr>
          <p:cNvPr id="14" name="TextBox 13">
            <a:extLst>
              <a:ext uri="{FF2B5EF4-FFF2-40B4-BE49-F238E27FC236}">
                <a16:creationId xmlns:a16="http://schemas.microsoft.com/office/drawing/2014/main" id="{7512B76C-94C7-EB2C-9E9F-9B162E669E4F}"/>
              </a:ext>
            </a:extLst>
          </p:cNvPr>
          <p:cNvSpPr txBox="1"/>
          <p:nvPr/>
        </p:nvSpPr>
        <p:spPr>
          <a:xfrm>
            <a:off x="90947" y="6274521"/>
            <a:ext cx="9306233" cy="369332"/>
          </a:xfrm>
          <a:prstGeom prst="rect">
            <a:avLst/>
          </a:prstGeom>
          <a:noFill/>
        </p:spPr>
        <p:txBody>
          <a:bodyPr wrap="square" rtlCol="0">
            <a:spAutoFit/>
          </a:bodyPr>
          <a:lstStyle/>
          <a:p>
            <a:r>
              <a:rPr lang="en-US" b="1" dirty="0">
                <a:latin typeface="Bell MT" panose="02020503060305020303" pitchFamily="18" charset="0"/>
              </a:rPr>
              <a:t>Presented by Deepak Kumar</a:t>
            </a:r>
          </a:p>
        </p:txBody>
      </p:sp>
    </p:spTree>
    <p:extLst>
      <p:ext uri="{BB962C8B-B14F-4D97-AF65-F5344CB8AC3E}">
        <p14:creationId xmlns:p14="http://schemas.microsoft.com/office/powerpoint/2010/main" val="2927243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6EE185-F5C3-7194-6161-35DE0FE425D9}"/>
              </a:ext>
            </a:extLst>
          </p:cNvPr>
          <p:cNvSpPr txBox="1"/>
          <p:nvPr/>
        </p:nvSpPr>
        <p:spPr>
          <a:xfrm>
            <a:off x="2517058" y="108155"/>
            <a:ext cx="5919019" cy="369332"/>
          </a:xfrm>
          <a:prstGeom prst="rect">
            <a:avLst/>
          </a:prstGeom>
          <a:noFill/>
        </p:spPr>
        <p:txBody>
          <a:bodyPr wrap="square" rtlCol="0">
            <a:spAutoFit/>
          </a:bodyPr>
          <a:lstStyle/>
          <a:p>
            <a:pPr algn="ctr"/>
            <a:r>
              <a:rPr lang="en-US" b="1" dirty="0">
                <a:latin typeface="Bell MT" panose="02020503060305020303" pitchFamily="18" charset="0"/>
              </a:rPr>
              <a:t>TABLE CONTENT</a:t>
            </a:r>
          </a:p>
        </p:txBody>
      </p:sp>
      <p:pic>
        <p:nvPicPr>
          <p:cNvPr id="4" name="Picture 3">
            <a:extLst>
              <a:ext uri="{FF2B5EF4-FFF2-40B4-BE49-F238E27FC236}">
                <a16:creationId xmlns:a16="http://schemas.microsoft.com/office/drawing/2014/main" id="{B894C4BA-1717-37C0-45C4-8DC30290F6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4916" y="108154"/>
            <a:ext cx="491613" cy="369333"/>
          </a:xfrm>
          <a:prstGeom prst="rect">
            <a:avLst/>
          </a:prstGeom>
        </p:spPr>
      </p:pic>
      <p:pic>
        <p:nvPicPr>
          <p:cNvPr id="6" name="Picture 5">
            <a:extLst>
              <a:ext uri="{FF2B5EF4-FFF2-40B4-BE49-F238E27FC236}">
                <a16:creationId xmlns:a16="http://schemas.microsoft.com/office/drawing/2014/main" id="{9093570F-6A71-7C66-144B-7E48361394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1187" y="108155"/>
            <a:ext cx="491613" cy="369332"/>
          </a:xfrm>
          <a:prstGeom prst="rect">
            <a:avLst/>
          </a:prstGeom>
        </p:spPr>
      </p:pic>
      <p:sp>
        <p:nvSpPr>
          <p:cNvPr id="7" name="Rectangle: Rounded Corners 6">
            <a:extLst>
              <a:ext uri="{FF2B5EF4-FFF2-40B4-BE49-F238E27FC236}">
                <a16:creationId xmlns:a16="http://schemas.microsoft.com/office/drawing/2014/main" id="{B2088102-406D-55E7-F7FA-5C72937F9EC4}"/>
              </a:ext>
            </a:extLst>
          </p:cNvPr>
          <p:cNvSpPr/>
          <p:nvPr/>
        </p:nvSpPr>
        <p:spPr>
          <a:xfrm>
            <a:off x="2025444" y="639097"/>
            <a:ext cx="6666271" cy="5938684"/>
          </a:xfrm>
          <a:prstGeom prst="roundRect">
            <a:avLst>
              <a:gd name="adj" fmla="val 7727"/>
            </a:avLst>
          </a:prstGeom>
          <a:effectLst>
            <a:glow rad="63500">
              <a:schemeClr val="accent5">
                <a:satMod val="175000"/>
                <a:alpha val="40000"/>
              </a:schemeClr>
            </a:glow>
            <a:innerShdw blurRad="114300">
              <a:prstClr val="black"/>
            </a:innerShd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TextBox 7">
            <a:extLst>
              <a:ext uri="{FF2B5EF4-FFF2-40B4-BE49-F238E27FC236}">
                <a16:creationId xmlns:a16="http://schemas.microsoft.com/office/drawing/2014/main" id="{FF6CFD7B-9C7F-FE87-25F7-D821A872CFAE}"/>
              </a:ext>
            </a:extLst>
          </p:cNvPr>
          <p:cNvSpPr txBox="1"/>
          <p:nvPr/>
        </p:nvSpPr>
        <p:spPr>
          <a:xfrm>
            <a:off x="2979172" y="965288"/>
            <a:ext cx="4758813" cy="373626"/>
          </a:xfrm>
          <a:prstGeom prst="rect">
            <a:avLst/>
          </a:prstGeom>
          <a:noFill/>
        </p:spPr>
        <p:txBody>
          <a:bodyPr wrap="square" rtlCol="0">
            <a:spAutoFit/>
          </a:bodyPr>
          <a:lstStyle/>
          <a:p>
            <a:pPr algn="ctr"/>
            <a:r>
              <a:rPr lang="en-US" dirty="0"/>
              <a:t>PROBLEM STATEMENT</a:t>
            </a:r>
          </a:p>
        </p:txBody>
      </p:sp>
      <p:sp>
        <p:nvSpPr>
          <p:cNvPr id="10" name="TextBox 9">
            <a:extLst>
              <a:ext uri="{FF2B5EF4-FFF2-40B4-BE49-F238E27FC236}">
                <a16:creationId xmlns:a16="http://schemas.microsoft.com/office/drawing/2014/main" id="{FF7D03A6-E6A5-8930-DC12-EFA78E3CF4AF}"/>
              </a:ext>
            </a:extLst>
          </p:cNvPr>
          <p:cNvSpPr txBox="1"/>
          <p:nvPr/>
        </p:nvSpPr>
        <p:spPr>
          <a:xfrm>
            <a:off x="2979172" y="1639389"/>
            <a:ext cx="4758813" cy="373626"/>
          </a:xfrm>
          <a:prstGeom prst="rect">
            <a:avLst/>
          </a:prstGeom>
          <a:noFill/>
        </p:spPr>
        <p:txBody>
          <a:bodyPr wrap="square" rtlCol="0">
            <a:spAutoFit/>
          </a:bodyPr>
          <a:lstStyle/>
          <a:p>
            <a:pPr algn="ctr"/>
            <a:r>
              <a:rPr lang="en-US" dirty="0"/>
              <a:t>PROJECT OBJECTIVE</a:t>
            </a:r>
          </a:p>
        </p:txBody>
      </p:sp>
      <p:sp>
        <p:nvSpPr>
          <p:cNvPr id="12" name="TextBox 11">
            <a:extLst>
              <a:ext uri="{FF2B5EF4-FFF2-40B4-BE49-F238E27FC236}">
                <a16:creationId xmlns:a16="http://schemas.microsoft.com/office/drawing/2014/main" id="{DD774429-421F-6D50-9090-94213A74BCA6}"/>
              </a:ext>
            </a:extLst>
          </p:cNvPr>
          <p:cNvSpPr txBox="1"/>
          <p:nvPr/>
        </p:nvSpPr>
        <p:spPr>
          <a:xfrm>
            <a:off x="2979173" y="2313490"/>
            <a:ext cx="4758813" cy="373626"/>
          </a:xfrm>
          <a:prstGeom prst="rect">
            <a:avLst/>
          </a:prstGeom>
          <a:noFill/>
        </p:spPr>
        <p:txBody>
          <a:bodyPr wrap="square" rtlCol="0">
            <a:spAutoFit/>
          </a:bodyPr>
          <a:lstStyle/>
          <a:p>
            <a:pPr algn="ctr"/>
            <a:r>
              <a:rPr lang="en-US" dirty="0"/>
              <a:t>DATASET OVERVIEW</a:t>
            </a:r>
          </a:p>
        </p:txBody>
      </p:sp>
      <p:sp>
        <p:nvSpPr>
          <p:cNvPr id="14" name="TextBox 13">
            <a:extLst>
              <a:ext uri="{FF2B5EF4-FFF2-40B4-BE49-F238E27FC236}">
                <a16:creationId xmlns:a16="http://schemas.microsoft.com/office/drawing/2014/main" id="{71F24DF8-4737-B23B-ABC5-6B2B99234D49}"/>
              </a:ext>
            </a:extLst>
          </p:cNvPr>
          <p:cNvSpPr txBox="1"/>
          <p:nvPr/>
        </p:nvSpPr>
        <p:spPr>
          <a:xfrm>
            <a:off x="2979173" y="3059357"/>
            <a:ext cx="4758813" cy="373626"/>
          </a:xfrm>
          <a:prstGeom prst="rect">
            <a:avLst/>
          </a:prstGeom>
          <a:noFill/>
        </p:spPr>
        <p:txBody>
          <a:bodyPr wrap="square" rtlCol="0">
            <a:spAutoFit/>
          </a:bodyPr>
          <a:lstStyle/>
          <a:p>
            <a:pPr algn="ctr"/>
            <a:r>
              <a:rPr lang="en-US" dirty="0"/>
              <a:t>DATAMODEL OVERVIEW</a:t>
            </a:r>
          </a:p>
        </p:txBody>
      </p:sp>
      <p:sp>
        <p:nvSpPr>
          <p:cNvPr id="16" name="TextBox 15">
            <a:extLst>
              <a:ext uri="{FF2B5EF4-FFF2-40B4-BE49-F238E27FC236}">
                <a16:creationId xmlns:a16="http://schemas.microsoft.com/office/drawing/2014/main" id="{54F8D178-9D5C-8338-C013-0AE47A76078E}"/>
              </a:ext>
            </a:extLst>
          </p:cNvPr>
          <p:cNvSpPr txBox="1"/>
          <p:nvPr/>
        </p:nvSpPr>
        <p:spPr>
          <a:xfrm>
            <a:off x="2979172" y="3803077"/>
            <a:ext cx="4758813" cy="373626"/>
          </a:xfrm>
          <a:prstGeom prst="rect">
            <a:avLst/>
          </a:prstGeom>
          <a:noFill/>
        </p:spPr>
        <p:txBody>
          <a:bodyPr wrap="square" rtlCol="0">
            <a:spAutoFit/>
          </a:bodyPr>
          <a:lstStyle/>
          <a:p>
            <a:pPr algn="ctr"/>
            <a:r>
              <a:rPr lang="en-US" dirty="0"/>
              <a:t>DASHBORAD OVERVIEW</a:t>
            </a:r>
          </a:p>
        </p:txBody>
      </p:sp>
      <p:sp>
        <p:nvSpPr>
          <p:cNvPr id="18" name="TextBox 17">
            <a:extLst>
              <a:ext uri="{FF2B5EF4-FFF2-40B4-BE49-F238E27FC236}">
                <a16:creationId xmlns:a16="http://schemas.microsoft.com/office/drawing/2014/main" id="{6A06A36C-7DA1-29A9-0E6C-F5DF7C7282A7}"/>
              </a:ext>
            </a:extLst>
          </p:cNvPr>
          <p:cNvSpPr txBox="1"/>
          <p:nvPr/>
        </p:nvSpPr>
        <p:spPr>
          <a:xfrm>
            <a:off x="2856267" y="4546797"/>
            <a:ext cx="4758813" cy="373626"/>
          </a:xfrm>
          <a:prstGeom prst="rect">
            <a:avLst/>
          </a:prstGeom>
          <a:noFill/>
        </p:spPr>
        <p:txBody>
          <a:bodyPr wrap="square" rtlCol="0">
            <a:spAutoFit/>
          </a:bodyPr>
          <a:lstStyle/>
          <a:p>
            <a:pPr algn="ctr"/>
            <a:r>
              <a:rPr lang="en-US" dirty="0"/>
              <a:t>KEY INSIGHTS</a:t>
            </a:r>
          </a:p>
        </p:txBody>
      </p:sp>
      <p:sp>
        <p:nvSpPr>
          <p:cNvPr id="20" name="TextBox 19">
            <a:extLst>
              <a:ext uri="{FF2B5EF4-FFF2-40B4-BE49-F238E27FC236}">
                <a16:creationId xmlns:a16="http://schemas.microsoft.com/office/drawing/2014/main" id="{84F10AF5-3FA6-9F2F-E56D-7BF1396E528A}"/>
              </a:ext>
            </a:extLst>
          </p:cNvPr>
          <p:cNvSpPr txBox="1"/>
          <p:nvPr/>
        </p:nvSpPr>
        <p:spPr>
          <a:xfrm>
            <a:off x="2979171" y="5290517"/>
            <a:ext cx="4758813" cy="373626"/>
          </a:xfrm>
          <a:prstGeom prst="rect">
            <a:avLst/>
          </a:prstGeom>
          <a:noFill/>
        </p:spPr>
        <p:txBody>
          <a:bodyPr wrap="square" rtlCol="0">
            <a:spAutoFit/>
          </a:bodyPr>
          <a:lstStyle/>
          <a:p>
            <a:pPr algn="ctr"/>
            <a:r>
              <a:rPr lang="en-US" dirty="0"/>
              <a:t>STRATEGIC RECOMMENDATION </a:t>
            </a:r>
          </a:p>
        </p:txBody>
      </p:sp>
      <p:pic>
        <p:nvPicPr>
          <p:cNvPr id="11" name="Picture 10">
            <a:extLst>
              <a:ext uri="{FF2B5EF4-FFF2-40B4-BE49-F238E27FC236}">
                <a16:creationId xmlns:a16="http://schemas.microsoft.com/office/drawing/2014/main" id="{340A5462-3540-A7E9-59E7-C6F4ED98C7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5080" y="846338"/>
            <a:ext cx="735239" cy="668593"/>
          </a:xfrm>
          <a:prstGeom prst="rect">
            <a:avLst/>
          </a:prstGeom>
        </p:spPr>
      </p:pic>
    </p:spTree>
    <p:extLst>
      <p:ext uri="{BB962C8B-B14F-4D97-AF65-F5344CB8AC3E}">
        <p14:creationId xmlns:p14="http://schemas.microsoft.com/office/powerpoint/2010/main" val="4086087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A02292-5455-22B2-A492-D44D95065823}"/>
              </a:ext>
            </a:extLst>
          </p:cNvPr>
          <p:cNvSpPr txBox="1"/>
          <p:nvPr/>
        </p:nvSpPr>
        <p:spPr>
          <a:xfrm>
            <a:off x="3038167" y="58994"/>
            <a:ext cx="5112774" cy="369332"/>
          </a:xfrm>
          <a:prstGeom prst="rect">
            <a:avLst/>
          </a:prstGeom>
          <a:noFill/>
        </p:spPr>
        <p:txBody>
          <a:bodyPr wrap="square" rtlCol="0">
            <a:spAutoFit/>
          </a:bodyPr>
          <a:lstStyle/>
          <a:p>
            <a:pPr algn="ctr"/>
            <a:r>
              <a:rPr lang="en-US" dirty="0">
                <a:latin typeface="Bell MT" panose="02020503060305020303" pitchFamily="18" charset="0"/>
              </a:rPr>
              <a:t>PROBLEM STATEMENT</a:t>
            </a:r>
          </a:p>
        </p:txBody>
      </p:sp>
      <p:sp>
        <p:nvSpPr>
          <p:cNvPr id="3" name="Rectangle: Rounded Corners 2">
            <a:extLst>
              <a:ext uri="{FF2B5EF4-FFF2-40B4-BE49-F238E27FC236}">
                <a16:creationId xmlns:a16="http://schemas.microsoft.com/office/drawing/2014/main" id="{DD614DEA-F3DB-AEEE-F88C-5D36406D3498}"/>
              </a:ext>
            </a:extLst>
          </p:cNvPr>
          <p:cNvSpPr/>
          <p:nvPr/>
        </p:nvSpPr>
        <p:spPr>
          <a:xfrm>
            <a:off x="1592826" y="540775"/>
            <a:ext cx="8839199" cy="5574890"/>
          </a:xfrm>
          <a:prstGeom prst="roundRect">
            <a:avLst>
              <a:gd name="adj" fmla="val 5556"/>
            </a:avLst>
          </a:prstGeom>
          <a:effectLst>
            <a:glow rad="635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B8E51C63-DE84-553B-7305-17F05C84E279}"/>
              </a:ext>
            </a:extLst>
          </p:cNvPr>
          <p:cNvSpPr txBox="1"/>
          <p:nvPr/>
        </p:nvSpPr>
        <p:spPr>
          <a:xfrm>
            <a:off x="1809135" y="816077"/>
            <a:ext cx="8485239" cy="3416320"/>
          </a:xfrm>
          <a:prstGeom prst="rect">
            <a:avLst/>
          </a:prstGeom>
          <a:noFill/>
        </p:spPr>
        <p:txBody>
          <a:bodyPr wrap="square" rtlCol="0">
            <a:spAutoFit/>
          </a:bodyPr>
          <a:lstStyle/>
          <a:p>
            <a:r>
              <a:rPr lang="en-US" dirty="0">
                <a:latin typeface="Bell MT" panose="02020503060305020303" pitchFamily="18" charset="0"/>
              </a:rPr>
              <a:t>Shield Insurance lacked a Centralized analytical solutions to monitor revenue</a:t>
            </a:r>
          </a:p>
          <a:p>
            <a:r>
              <a:rPr lang="en-US" dirty="0">
                <a:latin typeface="Bell MT" panose="02020503060305020303" pitchFamily="18" charset="0"/>
              </a:rPr>
              <a:t>Performance, customer growth, sales channel effectiveness customer</a:t>
            </a:r>
          </a:p>
          <a:p>
            <a:r>
              <a:rPr lang="en-US" dirty="0">
                <a:latin typeface="Bell MT" panose="02020503060305020303" pitchFamily="18" charset="0"/>
              </a:rPr>
              <a:t>Demographics, and settlement risk trend, this made its difficult for stakeholder</a:t>
            </a:r>
          </a:p>
          <a:p>
            <a:r>
              <a:rPr lang="en-US" dirty="0">
                <a:latin typeface="Bell MT" panose="02020503060305020303" pitchFamily="18" charset="0"/>
              </a:rPr>
              <a:t>to identify Business Patterns evaluate sales performance and make data-driven decisions efficiently</a:t>
            </a:r>
            <a:r>
              <a:rPr lang="en-US" dirty="0"/>
              <a:t>. </a:t>
            </a:r>
          </a:p>
          <a:p>
            <a:endParaRPr lang="en-US" dirty="0"/>
          </a:p>
          <a:p>
            <a:endParaRPr lang="en-US" dirty="0"/>
          </a:p>
          <a:p>
            <a:endParaRPr lang="en-US" dirty="0"/>
          </a:p>
          <a:p>
            <a:endParaRPr lang="en-US" dirty="0"/>
          </a:p>
          <a:p>
            <a:r>
              <a:rPr lang="en-US" dirty="0">
                <a:latin typeface="Bell MT" panose="02020503060305020303" pitchFamily="18" charset="0"/>
              </a:rPr>
              <a:t>To address this challenge. An interactive Power BI Dashboard was developed to provide real-time business insights across </a:t>
            </a:r>
            <a:r>
              <a:rPr lang="en-US" b="1" dirty="0">
                <a:latin typeface="Bell MT" panose="02020503060305020303" pitchFamily="18" charset="0"/>
              </a:rPr>
              <a:t>Revenue, Customer Segmentation, Sales Mode, Policy Preference, Age Group based on risk Analysis</a:t>
            </a:r>
          </a:p>
        </p:txBody>
      </p:sp>
    </p:spTree>
    <p:extLst>
      <p:ext uri="{BB962C8B-B14F-4D97-AF65-F5344CB8AC3E}">
        <p14:creationId xmlns:p14="http://schemas.microsoft.com/office/powerpoint/2010/main" val="980902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53C645-F370-0320-B6A8-1322DF528CCF}"/>
              </a:ext>
            </a:extLst>
          </p:cNvPr>
          <p:cNvSpPr txBox="1"/>
          <p:nvPr/>
        </p:nvSpPr>
        <p:spPr>
          <a:xfrm>
            <a:off x="2467897" y="41475"/>
            <a:ext cx="5860026" cy="369332"/>
          </a:xfrm>
          <a:prstGeom prst="rect">
            <a:avLst/>
          </a:prstGeom>
          <a:noFill/>
        </p:spPr>
        <p:txBody>
          <a:bodyPr wrap="square" rtlCol="0">
            <a:spAutoFit/>
          </a:bodyPr>
          <a:lstStyle/>
          <a:p>
            <a:pPr algn="ctr"/>
            <a:r>
              <a:rPr lang="en-US" dirty="0">
                <a:latin typeface="Bell MT" panose="02020503060305020303" pitchFamily="18" charset="0"/>
              </a:rPr>
              <a:t>Project OBJECTIVE</a:t>
            </a:r>
          </a:p>
        </p:txBody>
      </p:sp>
      <p:sp>
        <p:nvSpPr>
          <p:cNvPr id="3" name="Rectangle: Rounded Corners 2">
            <a:extLst>
              <a:ext uri="{FF2B5EF4-FFF2-40B4-BE49-F238E27FC236}">
                <a16:creationId xmlns:a16="http://schemas.microsoft.com/office/drawing/2014/main" id="{50371EC2-0AA5-A5EE-7BE8-3381DDF68128}"/>
              </a:ext>
            </a:extLst>
          </p:cNvPr>
          <p:cNvSpPr/>
          <p:nvPr/>
        </p:nvSpPr>
        <p:spPr>
          <a:xfrm>
            <a:off x="1612490" y="710071"/>
            <a:ext cx="7393858" cy="4650658"/>
          </a:xfrm>
          <a:prstGeom prst="roundRect">
            <a:avLst>
              <a:gd name="adj" fmla="val 8633"/>
            </a:avLst>
          </a:prstGeom>
          <a:effectLst>
            <a:glow rad="63500">
              <a:schemeClr val="accent3">
                <a:satMod val="175000"/>
                <a:alpha val="40000"/>
              </a:schemeClr>
            </a:glow>
          </a:effectLst>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C6E64863-48E5-2F4B-37DD-FB1A8CC7A0FD}"/>
              </a:ext>
            </a:extLst>
          </p:cNvPr>
          <p:cNvSpPr txBox="1"/>
          <p:nvPr/>
        </p:nvSpPr>
        <p:spPr>
          <a:xfrm>
            <a:off x="2094271" y="993058"/>
            <a:ext cx="6233651" cy="369332"/>
          </a:xfrm>
          <a:prstGeom prst="rect">
            <a:avLst/>
          </a:prstGeom>
          <a:noFill/>
        </p:spPr>
        <p:txBody>
          <a:bodyPr wrap="square" rtlCol="0">
            <a:spAutoFit/>
          </a:bodyPr>
          <a:lstStyle/>
          <a:p>
            <a:r>
              <a:rPr lang="en-US" dirty="0">
                <a:latin typeface="Bell MT" panose="02020503060305020303" pitchFamily="18" charset="0"/>
              </a:rPr>
              <a:t>Develop an Interactive Power BI Dashboard to Analyze</a:t>
            </a:r>
            <a:r>
              <a:rPr lang="en-US" dirty="0"/>
              <a:t>: </a:t>
            </a:r>
          </a:p>
        </p:txBody>
      </p:sp>
      <p:pic>
        <p:nvPicPr>
          <p:cNvPr id="7" name="Picture 6">
            <a:extLst>
              <a:ext uri="{FF2B5EF4-FFF2-40B4-BE49-F238E27FC236}">
                <a16:creationId xmlns:a16="http://schemas.microsoft.com/office/drawing/2014/main" id="{4F741BCC-4B50-4F78-D049-720CE0D26C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5065" y="1687365"/>
            <a:ext cx="238127" cy="228825"/>
          </a:xfrm>
          <a:prstGeom prst="rect">
            <a:avLst/>
          </a:prstGeom>
        </p:spPr>
      </p:pic>
      <p:sp>
        <p:nvSpPr>
          <p:cNvPr id="9" name="TextBox 8">
            <a:extLst>
              <a:ext uri="{FF2B5EF4-FFF2-40B4-BE49-F238E27FC236}">
                <a16:creationId xmlns:a16="http://schemas.microsoft.com/office/drawing/2014/main" id="{62E13FE0-DB4B-E4AF-EEE5-3C45D9D31EC4}"/>
              </a:ext>
            </a:extLst>
          </p:cNvPr>
          <p:cNvSpPr txBox="1"/>
          <p:nvPr/>
        </p:nvSpPr>
        <p:spPr>
          <a:xfrm>
            <a:off x="2222090" y="1576016"/>
            <a:ext cx="5122607" cy="369332"/>
          </a:xfrm>
          <a:prstGeom prst="rect">
            <a:avLst/>
          </a:prstGeom>
          <a:noFill/>
        </p:spPr>
        <p:txBody>
          <a:bodyPr wrap="square" rtlCol="0">
            <a:spAutoFit/>
          </a:bodyPr>
          <a:lstStyle/>
          <a:p>
            <a:r>
              <a:rPr lang="en-US" dirty="0">
                <a:latin typeface="Bell MT" panose="02020503060305020303" pitchFamily="18" charset="0"/>
              </a:rPr>
              <a:t>Revenue Performance</a:t>
            </a:r>
          </a:p>
        </p:txBody>
      </p:sp>
      <p:pic>
        <p:nvPicPr>
          <p:cNvPr id="11" name="Picture 10">
            <a:extLst>
              <a:ext uri="{FF2B5EF4-FFF2-40B4-BE49-F238E27FC236}">
                <a16:creationId xmlns:a16="http://schemas.microsoft.com/office/drawing/2014/main" id="{DB35C69B-0C41-3A2F-C481-A66E3B306F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6143" y="2060167"/>
            <a:ext cx="238127" cy="228825"/>
          </a:xfrm>
          <a:prstGeom prst="rect">
            <a:avLst/>
          </a:prstGeom>
        </p:spPr>
      </p:pic>
      <p:sp>
        <p:nvSpPr>
          <p:cNvPr id="12" name="TextBox 11">
            <a:extLst>
              <a:ext uri="{FF2B5EF4-FFF2-40B4-BE49-F238E27FC236}">
                <a16:creationId xmlns:a16="http://schemas.microsoft.com/office/drawing/2014/main" id="{3A3758ED-C556-3383-C83C-DC2F67B8BD21}"/>
              </a:ext>
            </a:extLst>
          </p:cNvPr>
          <p:cNvSpPr txBox="1"/>
          <p:nvPr/>
        </p:nvSpPr>
        <p:spPr>
          <a:xfrm>
            <a:off x="2222090" y="2006629"/>
            <a:ext cx="3805084" cy="369332"/>
          </a:xfrm>
          <a:prstGeom prst="rect">
            <a:avLst/>
          </a:prstGeom>
          <a:noFill/>
        </p:spPr>
        <p:txBody>
          <a:bodyPr wrap="square" rtlCol="0">
            <a:spAutoFit/>
          </a:bodyPr>
          <a:lstStyle/>
          <a:p>
            <a:r>
              <a:rPr lang="en-US" dirty="0">
                <a:latin typeface="Bell MT" panose="02020503060305020303" pitchFamily="18" charset="0"/>
              </a:rPr>
              <a:t>Customer Growth</a:t>
            </a:r>
          </a:p>
        </p:txBody>
      </p:sp>
      <p:pic>
        <p:nvPicPr>
          <p:cNvPr id="16" name="Picture 15">
            <a:extLst>
              <a:ext uri="{FF2B5EF4-FFF2-40B4-BE49-F238E27FC236}">
                <a16:creationId xmlns:a16="http://schemas.microsoft.com/office/drawing/2014/main" id="{6C9B2574-3B80-15BF-DD8C-326BDF33D2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5064" y="2499554"/>
            <a:ext cx="238127" cy="228825"/>
          </a:xfrm>
          <a:prstGeom prst="rect">
            <a:avLst/>
          </a:prstGeom>
        </p:spPr>
      </p:pic>
      <p:sp>
        <p:nvSpPr>
          <p:cNvPr id="17" name="TextBox 16">
            <a:extLst>
              <a:ext uri="{FF2B5EF4-FFF2-40B4-BE49-F238E27FC236}">
                <a16:creationId xmlns:a16="http://schemas.microsoft.com/office/drawing/2014/main" id="{F85E80E7-580B-03A9-76AA-A84674434AC6}"/>
              </a:ext>
            </a:extLst>
          </p:cNvPr>
          <p:cNvSpPr txBox="1"/>
          <p:nvPr/>
        </p:nvSpPr>
        <p:spPr>
          <a:xfrm>
            <a:off x="2222090" y="2419438"/>
            <a:ext cx="3873910" cy="369332"/>
          </a:xfrm>
          <a:prstGeom prst="rect">
            <a:avLst/>
          </a:prstGeom>
          <a:noFill/>
        </p:spPr>
        <p:txBody>
          <a:bodyPr wrap="square" rtlCol="0">
            <a:spAutoFit/>
          </a:bodyPr>
          <a:lstStyle/>
          <a:p>
            <a:r>
              <a:rPr lang="en-US" dirty="0">
                <a:latin typeface="Bell MT" panose="02020503060305020303" pitchFamily="18" charset="0"/>
              </a:rPr>
              <a:t>Sales Mode Effectiveness</a:t>
            </a:r>
          </a:p>
        </p:txBody>
      </p:sp>
      <p:pic>
        <p:nvPicPr>
          <p:cNvPr id="19" name="Picture 18">
            <a:extLst>
              <a:ext uri="{FF2B5EF4-FFF2-40B4-BE49-F238E27FC236}">
                <a16:creationId xmlns:a16="http://schemas.microsoft.com/office/drawing/2014/main" id="{E00DFD1D-C920-5554-598A-65B59A47BA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5065" y="2872356"/>
            <a:ext cx="238127" cy="228825"/>
          </a:xfrm>
          <a:prstGeom prst="rect">
            <a:avLst/>
          </a:prstGeom>
        </p:spPr>
      </p:pic>
      <p:sp>
        <p:nvSpPr>
          <p:cNvPr id="20" name="TextBox 19">
            <a:extLst>
              <a:ext uri="{FF2B5EF4-FFF2-40B4-BE49-F238E27FC236}">
                <a16:creationId xmlns:a16="http://schemas.microsoft.com/office/drawing/2014/main" id="{6A341BCF-5315-B2B8-6A96-820A5CB79812}"/>
              </a:ext>
            </a:extLst>
          </p:cNvPr>
          <p:cNvSpPr txBox="1"/>
          <p:nvPr/>
        </p:nvSpPr>
        <p:spPr>
          <a:xfrm>
            <a:off x="2222090" y="2790757"/>
            <a:ext cx="3274142" cy="369332"/>
          </a:xfrm>
          <a:prstGeom prst="rect">
            <a:avLst/>
          </a:prstGeom>
          <a:noFill/>
        </p:spPr>
        <p:txBody>
          <a:bodyPr wrap="square" rtlCol="0">
            <a:spAutoFit/>
          </a:bodyPr>
          <a:lstStyle/>
          <a:p>
            <a:r>
              <a:rPr lang="en-US" dirty="0">
                <a:latin typeface="Bell MT" panose="02020503060305020303" pitchFamily="18" charset="0"/>
              </a:rPr>
              <a:t>Customer Segmentation</a:t>
            </a:r>
          </a:p>
        </p:txBody>
      </p:sp>
      <p:pic>
        <p:nvPicPr>
          <p:cNvPr id="22" name="Picture 21">
            <a:extLst>
              <a:ext uri="{FF2B5EF4-FFF2-40B4-BE49-F238E27FC236}">
                <a16:creationId xmlns:a16="http://schemas.microsoft.com/office/drawing/2014/main" id="{18339F22-8792-75B3-7DE8-68F1404129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5064" y="3189940"/>
            <a:ext cx="238127" cy="228825"/>
          </a:xfrm>
          <a:prstGeom prst="rect">
            <a:avLst/>
          </a:prstGeom>
        </p:spPr>
      </p:pic>
      <p:sp>
        <p:nvSpPr>
          <p:cNvPr id="23" name="TextBox 22">
            <a:extLst>
              <a:ext uri="{FF2B5EF4-FFF2-40B4-BE49-F238E27FC236}">
                <a16:creationId xmlns:a16="http://schemas.microsoft.com/office/drawing/2014/main" id="{D0CF4DE3-C675-E0D7-DA6F-A2CE4C22DCB1}"/>
              </a:ext>
            </a:extLst>
          </p:cNvPr>
          <p:cNvSpPr txBox="1"/>
          <p:nvPr/>
        </p:nvSpPr>
        <p:spPr>
          <a:xfrm>
            <a:off x="2222090" y="3160089"/>
            <a:ext cx="3775587" cy="369332"/>
          </a:xfrm>
          <a:prstGeom prst="rect">
            <a:avLst/>
          </a:prstGeom>
          <a:noFill/>
        </p:spPr>
        <p:txBody>
          <a:bodyPr wrap="square" rtlCol="0">
            <a:spAutoFit/>
          </a:bodyPr>
          <a:lstStyle/>
          <a:p>
            <a:r>
              <a:rPr lang="en-US" dirty="0">
                <a:latin typeface="Bell MT" panose="02020503060305020303" pitchFamily="18" charset="0"/>
              </a:rPr>
              <a:t>Age-Group risk Analysis</a:t>
            </a:r>
          </a:p>
        </p:txBody>
      </p:sp>
    </p:spTree>
    <p:extLst>
      <p:ext uri="{BB962C8B-B14F-4D97-AF65-F5344CB8AC3E}">
        <p14:creationId xmlns:p14="http://schemas.microsoft.com/office/powerpoint/2010/main" val="4088180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B58DE1-C2BE-1679-AF43-06FDFC2D52E6}"/>
              </a:ext>
            </a:extLst>
          </p:cNvPr>
          <p:cNvSpPr txBox="1"/>
          <p:nvPr/>
        </p:nvSpPr>
        <p:spPr>
          <a:xfrm>
            <a:off x="2753033" y="167149"/>
            <a:ext cx="4896464" cy="369332"/>
          </a:xfrm>
          <a:prstGeom prst="rect">
            <a:avLst/>
          </a:prstGeom>
          <a:noFill/>
        </p:spPr>
        <p:txBody>
          <a:bodyPr wrap="square" rtlCol="0">
            <a:spAutoFit/>
          </a:bodyPr>
          <a:lstStyle/>
          <a:p>
            <a:pPr algn="ctr"/>
            <a:r>
              <a:rPr lang="en-US" dirty="0">
                <a:latin typeface="Bell MT" panose="02020503060305020303" pitchFamily="18" charset="0"/>
              </a:rPr>
              <a:t>DATASET OVERVIEW</a:t>
            </a:r>
          </a:p>
        </p:txBody>
      </p:sp>
      <p:sp>
        <p:nvSpPr>
          <p:cNvPr id="4" name="Rectangle: Rounded Corners 3">
            <a:extLst>
              <a:ext uri="{FF2B5EF4-FFF2-40B4-BE49-F238E27FC236}">
                <a16:creationId xmlns:a16="http://schemas.microsoft.com/office/drawing/2014/main" id="{9093F677-C857-7DB2-C359-A6E7CACCC901}"/>
              </a:ext>
            </a:extLst>
          </p:cNvPr>
          <p:cNvSpPr/>
          <p:nvPr/>
        </p:nvSpPr>
        <p:spPr>
          <a:xfrm>
            <a:off x="1638300" y="556038"/>
            <a:ext cx="7865806" cy="6071419"/>
          </a:xfrm>
          <a:prstGeom prst="roundRect">
            <a:avLst>
              <a:gd name="adj" fmla="val 6788"/>
            </a:avLst>
          </a:prstGeom>
          <a:effectLst>
            <a:glow rad="63500">
              <a:schemeClr val="accent3">
                <a:satMod val="175000"/>
                <a:alpha val="40000"/>
              </a:schemeClr>
            </a:glow>
            <a:outerShdw blurRad="50800" dist="38100" dir="16200000"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Arrow: Right 4">
            <a:extLst>
              <a:ext uri="{FF2B5EF4-FFF2-40B4-BE49-F238E27FC236}">
                <a16:creationId xmlns:a16="http://schemas.microsoft.com/office/drawing/2014/main" id="{E8CF4479-7A71-421F-0652-560883340147}"/>
              </a:ext>
            </a:extLst>
          </p:cNvPr>
          <p:cNvSpPr/>
          <p:nvPr/>
        </p:nvSpPr>
        <p:spPr>
          <a:xfrm>
            <a:off x="2077064" y="682124"/>
            <a:ext cx="2359742" cy="806245"/>
          </a:xfrm>
          <a:prstGeom prst="rightArrow">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Arrow: Right 6">
            <a:extLst>
              <a:ext uri="{FF2B5EF4-FFF2-40B4-BE49-F238E27FC236}">
                <a16:creationId xmlns:a16="http://schemas.microsoft.com/office/drawing/2014/main" id="{AE435FAC-9B35-8189-393B-7F0680F92461}"/>
              </a:ext>
            </a:extLst>
          </p:cNvPr>
          <p:cNvSpPr/>
          <p:nvPr/>
        </p:nvSpPr>
        <p:spPr>
          <a:xfrm>
            <a:off x="2008237" y="1750734"/>
            <a:ext cx="2359742" cy="806245"/>
          </a:xfrm>
          <a:prstGeom prst="rightArrow">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532A085A-96F0-915E-587C-80AD3A86D553}"/>
              </a:ext>
            </a:extLst>
          </p:cNvPr>
          <p:cNvSpPr/>
          <p:nvPr/>
        </p:nvSpPr>
        <p:spPr>
          <a:xfrm>
            <a:off x="2035277" y="2761255"/>
            <a:ext cx="2959508" cy="806245"/>
          </a:xfrm>
          <a:prstGeom prst="rightArrow">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11" name="Arrow: Right 10">
            <a:extLst>
              <a:ext uri="{FF2B5EF4-FFF2-40B4-BE49-F238E27FC236}">
                <a16:creationId xmlns:a16="http://schemas.microsoft.com/office/drawing/2014/main" id="{A404BE70-402A-F4F9-4809-3A39FE14BEBA}"/>
              </a:ext>
            </a:extLst>
          </p:cNvPr>
          <p:cNvSpPr/>
          <p:nvPr/>
        </p:nvSpPr>
        <p:spPr>
          <a:xfrm>
            <a:off x="2035277" y="3883634"/>
            <a:ext cx="2920179" cy="806245"/>
          </a:xfrm>
          <a:prstGeom prst="rightArrow">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13" name="Arrow: Right 12">
            <a:extLst>
              <a:ext uri="{FF2B5EF4-FFF2-40B4-BE49-F238E27FC236}">
                <a16:creationId xmlns:a16="http://schemas.microsoft.com/office/drawing/2014/main" id="{8E487200-9F1B-4A63-F778-6DC7B699D700}"/>
              </a:ext>
            </a:extLst>
          </p:cNvPr>
          <p:cNvSpPr/>
          <p:nvPr/>
        </p:nvSpPr>
        <p:spPr>
          <a:xfrm>
            <a:off x="2022987" y="5056225"/>
            <a:ext cx="2959509" cy="806245"/>
          </a:xfrm>
          <a:prstGeom prst="rightArrow">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17" name="TextBox 16">
            <a:extLst>
              <a:ext uri="{FF2B5EF4-FFF2-40B4-BE49-F238E27FC236}">
                <a16:creationId xmlns:a16="http://schemas.microsoft.com/office/drawing/2014/main" id="{7DCD62BB-A3EB-475A-D57F-6AA00870423D}"/>
              </a:ext>
            </a:extLst>
          </p:cNvPr>
          <p:cNvSpPr txBox="1"/>
          <p:nvPr/>
        </p:nvSpPr>
        <p:spPr>
          <a:xfrm>
            <a:off x="2185219" y="2979712"/>
            <a:ext cx="2251587" cy="369332"/>
          </a:xfrm>
          <a:prstGeom prst="rect">
            <a:avLst/>
          </a:prstGeom>
          <a:noFill/>
        </p:spPr>
        <p:txBody>
          <a:bodyPr wrap="square" rtlCol="0">
            <a:spAutoFit/>
          </a:bodyPr>
          <a:lstStyle/>
          <a:p>
            <a:pPr algn="ctr"/>
            <a:r>
              <a:rPr lang="en-US" dirty="0">
                <a:latin typeface="Bell MT" panose="02020503060305020303" pitchFamily="18" charset="0"/>
              </a:rPr>
              <a:t>DIM_CUSTOMER</a:t>
            </a:r>
          </a:p>
        </p:txBody>
      </p:sp>
      <p:sp>
        <p:nvSpPr>
          <p:cNvPr id="20" name="TextBox 19">
            <a:extLst>
              <a:ext uri="{FF2B5EF4-FFF2-40B4-BE49-F238E27FC236}">
                <a16:creationId xmlns:a16="http://schemas.microsoft.com/office/drawing/2014/main" id="{4B18B76F-D7FA-8B83-6C0A-0F7095189A1C}"/>
              </a:ext>
            </a:extLst>
          </p:cNvPr>
          <p:cNvSpPr txBox="1"/>
          <p:nvPr/>
        </p:nvSpPr>
        <p:spPr>
          <a:xfrm>
            <a:off x="2020530" y="1989150"/>
            <a:ext cx="1941870" cy="369332"/>
          </a:xfrm>
          <a:prstGeom prst="rect">
            <a:avLst/>
          </a:prstGeom>
          <a:noFill/>
        </p:spPr>
        <p:txBody>
          <a:bodyPr wrap="square" rtlCol="0">
            <a:spAutoFit/>
          </a:bodyPr>
          <a:lstStyle/>
          <a:p>
            <a:pPr algn="ctr"/>
            <a:r>
              <a:rPr lang="en-US" dirty="0">
                <a:latin typeface="Bell MT" panose="02020503060305020303" pitchFamily="18" charset="0"/>
              </a:rPr>
              <a:t>DIM_DATE</a:t>
            </a:r>
          </a:p>
        </p:txBody>
      </p:sp>
      <p:sp>
        <p:nvSpPr>
          <p:cNvPr id="22" name="TextBox 21">
            <a:extLst>
              <a:ext uri="{FF2B5EF4-FFF2-40B4-BE49-F238E27FC236}">
                <a16:creationId xmlns:a16="http://schemas.microsoft.com/office/drawing/2014/main" id="{868EF7A7-FAD4-2BF5-FF22-B0A6CC21FF37}"/>
              </a:ext>
            </a:extLst>
          </p:cNvPr>
          <p:cNvSpPr txBox="1"/>
          <p:nvPr/>
        </p:nvSpPr>
        <p:spPr>
          <a:xfrm>
            <a:off x="2089354" y="4096744"/>
            <a:ext cx="2227007" cy="369332"/>
          </a:xfrm>
          <a:prstGeom prst="rect">
            <a:avLst/>
          </a:prstGeom>
          <a:noFill/>
        </p:spPr>
        <p:txBody>
          <a:bodyPr wrap="square" rtlCol="0">
            <a:spAutoFit/>
          </a:bodyPr>
          <a:lstStyle/>
          <a:p>
            <a:pPr algn="ctr"/>
            <a:r>
              <a:rPr lang="en-US" dirty="0">
                <a:latin typeface="Bell MT" panose="02020503060305020303" pitchFamily="18" charset="0"/>
              </a:rPr>
              <a:t>FACT_PREMIUMS</a:t>
            </a:r>
          </a:p>
        </p:txBody>
      </p:sp>
      <p:sp>
        <p:nvSpPr>
          <p:cNvPr id="23" name="TextBox 22">
            <a:extLst>
              <a:ext uri="{FF2B5EF4-FFF2-40B4-BE49-F238E27FC236}">
                <a16:creationId xmlns:a16="http://schemas.microsoft.com/office/drawing/2014/main" id="{23F0ACAD-169B-51AE-1235-FC182AD6C6B1}"/>
              </a:ext>
            </a:extLst>
          </p:cNvPr>
          <p:cNvSpPr txBox="1"/>
          <p:nvPr/>
        </p:nvSpPr>
        <p:spPr>
          <a:xfrm>
            <a:off x="2020530" y="5274682"/>
            <a:ext cx="2580967" cy="369332"/>
          </a:xfrm>
          <a:prstGeom prst="rect">
            <a:avLst/>
          </a:prstGeom>
          <a:noFill/>
        </p:spPr>
        <p:txBody>
          <a:bodyPr wrap="square" rtlCol="0">
            <a:spAutoFit/>
          </a:bodyPr>
          <a:lstStyle/>
          <a:p>
            <a:pPr algn="ctr"/>
            <a:r>
              <a:rPr lang="en-US" dirty="0"/>
              <a:t>FACT_INSTALLMENT</a:t>
            </a:r>
          </a:p>
        </p:txBody>
      </p:sp>
      <p:sp>
        <p:nvSpPr>
          <p:cNvPr id="25" name="TextBox 24">
            <a:extLst>
              <a:ext uri="{FF2B5EF4-FFF2-40B4-BE49-F238E27FC236}">
                <a16:creationId xmlns:a16="http://schemas.microsoft.com/office/drawing/2014/main" id="{9BED7EC7-9F68-92E5-96CE-3590587F0709}"/>
              </a:ext>
            </a:extLst>
          </p:cNvPr>
          <p:cNvSpPr txBox="1"/>
          <p:nvPr/>
        </p:nvSpPr>
        <p:spPr>
          <a:xfrm>
            <a:off x="2185219" y="944489"/>
            <a:ext cx="1887793" cy="369332"/>
          </a:xfrm>
          <a:prstGeom prst="rect">
            <a:avLst/>
          </a:prstGeom>
          <a:noFill/>
        </p:spPr>
        <p:txBody>
          <a:bodyPr wrap="square" rtlCol="0">
            <a:spAutoFit/>
          </a:bodyPr>
          <a:lstStyle/>
          <a:p>
            <a:pPr algn="ctr"/>
            <a:r>
              <a:rPr lang="en-US" dirty="0">
                <a:latin typeface="Bell MT" panose="02020503060305020303" pitchFamily="18" charset="0"/>
              </a:rPr>
              <a:t>DIM_POLICY</a:t>
            </a:r>
          </a:p>
        </p:txBody>
      </p:sp>
      <p:sp>
        <p:nvSpPr>
          <p:cNvPr id="26" name="TextBox 25">
            <a:extLst>
              <a:ext uri="{FF2B5EF4-FFF2-40B4-BE49-F238E27FC236}">
                <a16:creationId xmlns:a16="http://schemas.microsoft.com/office/drawing/2014/main" id="{B9550827-19B6-E6AE-7D9C-29839CB23980}"/>
              </a:ext>
            </a:extLst>
          </p:cNvPr>
          <p:cNvSpPr txBox="1"/>
          <p:nvPr/>
        </p:nvSpPr>
        <p:spPr>
          <a:xfrm>
            <a:off x="5053780" y="2841211"/>
            <a:ext cx="4237703" cy="646331"/>
          </a:xfrm>
          <a:prstGeom prst="rect">
            <a:avLst/>
          </a:prstGeom>
          <a:noFill/>
        </p:spPr>
        <p:txBody>
          <a:bodyPr wrap="square" rtlCol="0">
            <a:spAutoFit/>
          </a:bodyPr>
          <a:lstStyle/>
          <a:p>
            <a:r>
              <a:rPr lang="en-US" dirty="0"/>
              <a:t>Customer Information like code Dob and city</a:t>
            </a:r>
          </a:p>
        </p:txBody>
      </p:sp>
      <p:sp>
        <p:nvSpPr>
          <p:cNvPr id="28" name="TextBox 27">
            <a:extLst>
              <a:ext uri="{FF2B5EF4-FFF2-40B4-BE49-F238E27FC236}">
                <a16:creationId xmlns:a16="http://schemas.microsoft.com/office/drawing/2014/main" id="{E5EF731D-FD44-D9A8-A5DC-83A18A496C10}"/>
              </a:ext>
            </a:extLst>
          </p:cNvPr>
          <p:cNvSpPr txBox="1"/>
          <p:nvPr/>
        </p:nvSpPr>
        <p:spPr>
          <a:xfrm>
            <a:off x="4680155" y="1754183"/>
            <a:ext cx="4503174" cy="646331"/>
          </a:xfrm>
          <a:prstGeom prst="rect">
            <a:avLst/>
          </a:prstGeom>
          <a:noFill/>
        </p:spPr>
        <p:txBody>
          <a:bodyPr wrap="square" rtlCol="0">
            <a:spAutoFit/>
          </a:bodyPr>
          <a:lstStyle/>
          <a:p>
            <a:r>
              <a:rPr lang="en-US" dirty="0">
                <a:latin typeface="Bell MT" panose="02020503060305020303" pitchFamily="18" charset="0"/>
              </a:rPr>
              <a:t>Provide Daily, Monthly Weekly Date Information</a:t>
            </a:r>
          </a:p>
        </p:txBody>
      </p:sp>
      <p:sp>
        <p:nvSpPr>
          <p:cNvPr id="30" name="TextBox 29">
            <a:extLst>
              <a:ext uri="{FF2B5EF4-FFF2-40B4-BE49-F238E27FC236}">
                <a16:creationId xmlns:a16="http://schemas.microsoft.com/office/drawing/2014/main" id="{DD6C4694-875D-0B17-7A3C-729947BB251A}"/>
              </a:ext>
            </a:extLst>
          </p:cNvPr>
          <p:cNvSpPr txBox="1"/>
          <p:nvPr/>
        </p:nvSpPr>
        <p:spPr>
          <a:xfrm>
            <a:off x="4718869" y="866145"/>
            <a:ext cx="4503174" cy="369332"/>
          </a:xfrm>
          <a:prstGeom prst="rect">
            <a:avLst/>
          </a:prstGeom>
          <a:noFill/>
        </p:spPr>
        <p:txBody>
          <a:bodyPr wrap="square" rtlCol="0">
            <a:spAutoFit/>
          </a:bodyPr>
          <a:lstStyle/>
          <a:p>
            <a:r>
              <a:rPr lang="en-US" dirty="0">
                <a:latin typeface="Bell MT" panose="02020503060305020303" pitchFamily="18" charset="0"/>
              </a:rPr>
              <a:t>Hold Data related to insurance policies</a:t>
            </a:r>
          </a:p>
        </p:txBody>
      </p:sp>
      <p:sp>
        <p:nvSpPr>
          <p:cNvPr id="32" name="TextBox 31">
            <a:extLst>
              <a:ext uri="{FF2B5EF4-FFF2-40B4-BE49-F238E27FC236}">
                <a16:creationId xmlns:a16="http://schemas.microsoft.com/office/drawing/2014/main" id="{85B11B5B-CA6A-FAD3-8C60-8B7D96538573}"/>
              </a:ext>
            </a:extLst>
          </p:cNvPr>
          <p:cNvSpPr txBox="1"/>
          <p:nvPr/>
        </p:nvSpPr>
        <p:spPr>
          <a:xfrm>
            <a:off x="5110929" y="4039356"/>
            <a:ext cx="4237703" cy="646331"/>
          </a:xfrm>
          <a:prstGeom prst="rect">
            <a:avLst/>
          </a:prstGeom>
          <a:noFill/>
        </p:spPr>
        <p:txBody>
          <a:bodyPr wrap="square" rtlCol="0">
            <a:spAutoFit/>
          </a:bodyPr>
          <a:lstStyle/>
          <a:p>
            <a:r>
              <a:rPr lang="en-US" dirty="0">
                <a:latin typeface="Bell MT" panose="02020503060305020303" pitchFamily="18" charset="0"/>
              </a:rPr>
              <a:t>Contains Information Policy holder &amp; Premiums</a:t>
            </a:r>
          </a:p>
        </p:txBody>
      </p:sp>
      <p:sp>
        <p:nvSpPr>
          <p:cNvPr id="34" name="TextBox 33">
            <a:extLst>
              <a:ext uri="{FF2B5EF4-FFF2-40B4-BE49-F238E27FC236}">
                <a16:creationId xmlns:a16="http://schemas.microsoft.com/office/drawing/2014/main" id="{C77213E8-A521-2E39-F5F4-D3D03259581A}"/>
              </a:ext>
            </a:extLst>
          </p:cNvPr>
          <p:cNvSpPr txBox="1"/>
          <p:nvPr/>
        </p:nvSpPr>
        <p:spPr>
          <a:xfrm>
            <a:off x="5053780" y="5173234"/>
            <a:ext cx="4237703" cy="646331"/>
          </a:xfrm>
          <a:prstGeom prst="rect">
            <a:avLst/>
          </a:prstGeom>
          <a:noFill/>
        </p:spPr>
        <p:txBody>
          <a:bodyPr wrap="square" rtlCol="0">
            <a:spAutoFit/>
          </a:bodyPr>
          <a:lstStyle/>
          <a:p>
            <a:r>
              <a:rPr lang="en-US" dirty="0">
                <a:latin typeface="Bell MT" panose="02020503060305020303" pitchFamily="18" charset="0"/>
              </a:rPr>
              <a:t>Provide information about policy </a:t>
            </a:r>
            <a:r>
              <a:rPr lang="en-US" dirty="0" err="1">
                <a:latin typeface="Bell MT" panose="02020503060305020303" pitchFamily="18" charset="0"/>
              </a:rPr>
              <a:t>settellment</a:t>
            </a:r>
            <a:endParaRPr lang="en-US" dirty="0">
              <a:latin typeface="Bell MT" panose="02020503060305020303" pitchFamily="18" charset="0"/>
            </a:endParaRPr>
          </a:p>
        </p:txBody>
      </p:sp>
    </p:spTree>
    <p:extLst>
      <p:ext uri="{BB962C8B-B14F-4D97-AF65-F5344CB8AC3E}">
        <p14:creationId xmlns:p14="http://schemas.microsoft.com/office/powerpoint/2010/main" val="3169990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5E7856-4BE3-CEAD-38D3-27FA169D416D}"/>
              </a:ext>
            </a:extLst>
          </p:cNvPr>
          <p:cNvSpPr txBox="1"/>
          <p:nvPr/>
        </p:nvSpPr>
        <p:spPr>
          <a:xfrm>
            <a:off x="3106992" y="108155"/>
            <a:ext cx="5201265" cy="369332"/>
          </a:xfrm>
          <a:prstGeom prst="rect">
            <a:avLst/>
          </a:prstGeom>
          <a:noFill/>
        </p:spPr>
        <p:txBody>
          <a:bodyPr wrap="square" rtlCol="0">
            <a:spAutoFit/>
          </a:bodyPr>
          <a:lstStyle/>
          <a:p>
            <a:pPr algn="ctr"/>
            <a:r>
              <a:rPr lang="en-US" dirty="0">
                <a:latin typeface="Bell MT" panose="02020503060305020303" pitchFamily="18" charset="0"/>
              </a:rPr>
              <a:t>Data Model Overview</a:t>
            </a:r>
          </a:p>
        </p:txBody>
      </p:sp>
      <p:pic>
        <p:nvPicPr>
          <p:cNvPr id="5" name="Picture 4">
            <a:extLst>
              <a:ext uri="{FF2B5EF4-FFF2-40B4-BE49-F238E27FC236}">
                <a16:creationId xmlns:a16="http://schemas.microsoft.com/office/drawing/2014/main" id="{BA031C0F-81F3-58B9-5743-170B400FE3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3675" y="1009440"/>
            <a:ext cx="7338696" cy="4839119"/>
          </a:xfrm>
          <a:prstGeom prst="roundRect">
            <a:avLst>
              <a:gd name="adj" fmla="val 6914"/>
            </a:avLst>
          </a:prstGeom>
          <a:ln>
            <a:noFill/>
          </a:ln>
          <a:effectLst>
            <a:glow rad="63500">
              <a:schemeClr val="accent4">
                <a:satMod val="175000"/>
                <a:alpha val="40000"/>
              </a:schemeClr>
            </a:glow>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Rectangle: Rounded Corners 5">
            <a:extLst>
              <a:ext uri="{FF2B5EF4-FFF2-40B4-BE49-F238E27FC236}">
                <a16:creationId xmlns:a16="http://schemas.microsoft.com/office/drawing/2014/main" id="{430E25F4-F94D-0C61-A1C2-FBF17974A365}"/>
              </a:ext>
            </a:extLst>
          </p:cNvPr>
          <p:cNvSpPr/>
          <p:nvPr/>
        </p:nvSpPr>
        <p:spPr>
          <a:xfrm>
            <a:off x="176981" y="1308936"/>
            <a:ext cx="3716593" cy="1342188"/>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A768F866-07A4-DCDF-1522-9830ECA3CCFF}"/>
              </a:ext>
            </a:extLst>
          </p:cNvPr>
          <p:cNvSpPr/>
          <p:nvPr/>
        </p:nvSpPr>
        <p:spPr>
          <a:xfrm>
            <a:off x="176981" y="2841942"/>
            <a:ext cx="3716593" cy="120032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B3520807-26BD-9925-9652-7B59474BFC4C}"/>
              </a:ext>
            </a:extLst>
          </p:cNvPr>
          <p:cNvSpPr/>
          <p:nvPr/>
        </p:nvSpPr>
        <p:spPr>
          <a:xfrm>
            <a:off x="176981" y="4344925"/>
            <a:ext cx="3716593" cy="1377138"/>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cxnSp>
        <p:nvCxnSpPr>
          <p:cNvPr id="12" name="Connector: Elbow 11">
            <a:extLst>
              <a:ext uri="{FF2B5EF4-FFF2-40B4-BE49-F238E27FC236}">
                <a16:creationId xmlns:a16="http://schemas.microsoft.com/office/drawing/2014/main" id="{AD19237F-1E83-D02F-020D-B98920F21B50}"/>
              </a:ext>
            </a:extLst>
          </p:cNvPr>
          <p:cNvCxnSpPr>
            <a:cxnSpLocks/>
            <a:stCxn id="6" idx="3"/>
          </p:cNvCxnSpPr>
          <p:nvPr/>
        </p:nvCxnSpPr>
        <p:spPr>
          <a:xfrm>
            <a:off x="3893574" y="1980030"/>
            <a:ext cx="580101" cy="105654"/>
          </a:xfrm>
          <a:prstGeom prst="bentConnector3">
            <a:avLst/>
          </a:prstGeom>
          <a:ln/>
        </p:spPr>
        <p:style>
          <a:lnRef idx="3">
            <a:schemeClr val="dk1"/>
          </a:lnRef>
          <a:fillRef idx="0">
            <a:schemeClr val="dk1"/>
          </a:fillRef>
          <a:effectRef idx="2">
            <a:schemeClr val="dk1"/>
          </a:effectRef>
          <a:fontRef idx="minor">
            <a:schemeClr val="tx1"/>
          </a:fontRef>
        </p:style>
      </p:cxnSp>
      <p:cxnSp>
        <p:nvCxnSpPr>
          <p:cNvPr id="13" name="Connector: Elbow 12">
            <a:extLst>
              <a:ext uri="{FF2B5EF4-FFF2-40B4-BE49-F238E27FC236}">
                <a16:creationId xmlns:a16="http://schemas.microsoft.com/office/drawing/2014/main" id="{5B6F6382-31C0-EC09-B5CE-F1D8F8832972}"/>
              </a:ext>
            </a:extLst>
          </p:cNvPr>
          <p:cNvCxnSpPr/>
          <p:nvPr/>
        </p:nvCxnSpPr>
        <p:spPr>
          <a:xfrm>
            <a:off x="3893574" y="3454001"/>
            <a:ext cx="580101" cy="319548"/>
          </a:xfrm>
          <a:prstGeom prst="bentConnector3">
            <a:avLst>
              <a:gd name="adj1" fmla="val 41526"/>
            </a:avLst>
          </a:prstGeom>
          <a:ln/>
        </p:spPr>
        <p:style>
          <a:lnRef idx="3">
            <a:schemeClr val="dk1"/>
          </a:lnRef>
          <a:fillRef idx="0">
            <a:schemeClr val="dk1"/>
          </a:fillRef>
          <a:effectRef idx="2">
            <a:schemeClr val="dk1"/>
          </a:effectRef>
          <a:fontRef idx="minor">
            <a:schemeClr val="tx1"/>
          </a:fontRef>
        </p:style>
      </p:cxnSp>
      <p:cxnSp>
        <p:nvCxnSpPr>
          <p:cNvPr id="14" name="Connector: Elbow 13">
            <a:extLst>
              <a:ext uri="{FF2B5EF4-FFF2-40B4-BE49-F238E27FC236}">
                <a16:creationId xmlns:a16="http://schemas.microsoft.com/office/drawing/2014/main" id="{C507FAB8-DC20-C2A2-046B-A0FA326B22F1}"/>
              </a:ext>
            </a:extLst>
          </p:cNvPr>
          <p:cNvCxnSpPr/>
          <p:nvPr/>
        </p:nvCxnSpPr>
        <p:spPr>
          <a:xfrm>
            <a:off x="3878825" y="4873720"/>
            <a:ext cx="580101" cy="319548"/>
          </a:xfrm>
          <a:prstGeom prst="bentConnector3">
            <a:avLst>
              <a:gd name="adj1" fmla="val 44915"/>
            </a:avLst>
          </a:prstGeom>
          <a:ln/>
        </p:spPr>
        <p:style>
          <a:lnRef idx="3">
            <a:schemeClr val="dk1"/>
          </a:lnRef>
          <a:fillRef idx="0">
            <a:schemeClr val="dk1"/>
          </a:fillRef>
          <a:effectRef idx="2">
            <a:schemeClr val="dk1"/>
          </a:effectRef>
          <a:fontRef idx="minor">
            <a:schemeClr val="tx1"/>
          </a:fontRef>
        </p:style>
      </p:cxnSp>
      <p:sp>
        <p:nvSpPr>
          <p:cNvPr id="15" name="TextBox 14">
            <a:extLst>
              <a:ext uri="{FF2B5EF4-FFF2-40B4-BE49-F238E27FC236}">
                <a16:creationId xmlns:a16="http://schemas.microsoft.com/office/drawing/2014/main" id="{F9FCA17B-243E-B036-1FD2-0B745BAA659B}"/>
              </a:ext>
            </a:extLst>
          </p:cNvPr>
          <p:cNvSpPr txBox="1"/>
          <p:nvPr/>
        </p:nvSpPr>
        <p:spPr>
          <a:xfrm>
            <a:off x="334296" y="1461792"/>
            <a:ext cx="3372464" cy="1015663"/>
          </a:xfrm>
          <a:prstGeom prst="rect">
            <a:avLst/>
          </a:prstGeom>
          <a:noFill/>
        </p:spPr>
        <p:txBody>
          <a:bodyPr wrap="square" rtlCol="0">
            <a:spAutoFit/>
          </a:bodyPr>
          <a:lstStyle/>
          <a:p>
            <a:pPr algn="ctr"/>
            <a:r>
              <a:rPr lang="en-US" sz="2000" dirty="0">
                <a:latin typeface="Bell MT" panose="02020503060305020303" pitchFamily="18" charset="0"/>
              </a:rPr>
              <a:t>The Model fellow Star Schema Design where fact table connected to dimensions table</a:t>
            </a:r>
          </a:p>
        </p:txBody>
      </p:sp>
      <p:sp>
        <p:nvSpPr>
          <p:cNvPr id="20" name="TextBox 19">
            <a:extLst>
              <a:ext uri="{FF2B5EF4-FFF2-40B4-BE49-F238E27FC236}">
                <a16:creationId xmlns:a16="http://schemas.microsoft.com/office/drawing/2014/main" id="{A83ABA53-F940-ED02-850B-D3F4B8D944D8}"/>
              </a:ext>
            </a:extLst>
          </p:cNvPr>
          <p:cNvSpPr txBox="1"/>
          <p:nvPr/>
        </p:nvSpPr>
        <p:spPr>
          <a:xfrm>
            <a:off x="334296" y="3144082"/>
            <a:ext cx="3372464" cy="707886"/>
          </a:xfrm>
          <a:prstGeom prst="rect">
            <a:avLst/>
          </a:prstGeom>
          <a:noFill/>
        </p:spPr>
        <p:txBody>
          <a:bodyPr wrap="square" rtlCol="0">
            <a:spAutoFit/>
          </a:bodyPr>
          <a:lstStyle/>
          <a:p>
            <a:pPr algn="ctr"/>
            <a:r>
              <a:rPr lang="en-US" sz="2000" dirty="0">
                <a:latin typeface="Bell MT" panose="02020503060305020303" pitchFamily="18" charset="0"/>
              </a:rPr>
              <a:t>Design for Analytical Query and Reporting (Power BI)</a:t>
            </a:r>
          </a:p>
        </p:txBody>
      </p:sp>
      <p:sp>
        <p:nvSpPr>
          <p:cNvPr id="22" name="TextBox 21">
            <a:extLst>
              <a:ext uri="{FF2B5EF4-FFF2-40B4-BE49-F238E27FC236}">
                <a16:creationId xmlns:a16="http://schemas.microsoft.com/office/drawing/2014/main" id="{AF42E7FC-54D2-B81C-B279-6369F96F2CFF}"/>
              </a:ext>
            </a:extLst>
          </p:cNvPr>
          <p:cNvSpPr txBox="1"/>
          <p:nvPr/>
        </p:nvSpPr>
        <p:spPr>
          <a:xfrm>
            <a:off x="216311" y="4525662"/>
            <a:ext cx="3372464" cy="1015663"/>
          </a:xfrm>
          <a:prstGeom prst="rect">
            <a:avLst/>
          </a:prstGeom>
          <a:noFill/>
        </p:spPr>
        <p:txBody>
          <a:bodyPr wrap="square" rtlCol="0">
            <a:spAutoFit/>
          </a:bodyPr>
          <a:lstStyle/>
          <a:p>
            <a:pPr algn="ctr"/>
            <a:r>
              <a:rPr lang="en-US" sz="2000" dirty="0">
                <a:latin typeface="Bell MT" panose="02020503060305020303" pitchFamily="18" charset="0"/>
              </a:rPr>
              <a:t>Ensure easy aggregation, filtering and performance optimization</a:t>
            </a:r>
          </a:p>
        </p:txBody>
      </p:sp>
    </p:spTree>
    <p:extLst>
      <p:ext uri="{BB962C8B-B14F-4D97-AF65-F5344CB8AC3E}">
        <p14:creationId xmlns:p14="http://schemas.microsoft.com/office/powerpoint/2010/main" val="2289051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B9D3D6-AFA1-786A-AE19-DFEE67A239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oundRect">
            <a:avLst>
              <a:gd name="adj" fmla="val 2904"/>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407710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29B7DE-0689-7907-06E4-AD7BA50AF8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ound2DiagRect">
            <a:avLst>
              <a:gd name="adj1" fmla="val 3620"/>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831272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33C3E3-4642-DAF3-D2A0-44D322C053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oundRect">
            <a:avLst>
              <a:gd name="adj" fmla="val 519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842641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B1346F-E31E-7EE5-AC3D-AEB7E0FEAEC5}"/>
              </a:ext>
            </a:extLst>
          </p:cNvPr>
          <p:cNvSpPr txBox="1"/>
          <p:nvPr/>
        </p:nvSpPr>
        <p:spPr>
          <a:xfrm>
            <a:off x="2910349" y="88491"/>
            <a:ext cx="5338916" cy="369332"/>
          </a:xfrm>
          <a:prstGeom prst="rect">
            <a:avLst/>
          </a:prstGeom>
          <a:noFill/>
        </p:spPr>
        <p:txBody>
          <a:bodyPr wrap="square" rtlCol="0">
            <a:spAutoFit/>
          </a:bodyPr>
          <a:lstStyle/>
          <a:p>
            <a:pPr algn="ctr"/>
            <a:r>
              <a:rPr lang="en-US" dirty="0">
                <a:latin typeface="Bell MT" panose="02020503060305020303" pitchFamily="18" charset="0"/>
              </a:rPr>
              <a:t>Key Insight</a:t>
            </a:r>
          </a:p>
        </p:txBody>
      </p:sp>
      <p:pic>
        <p:nvPicPr>
          <p:cNvPr id="6" name="Picture 5">
            <a:extLst>
              <a:ext uri="{FF2B5EF4-FFF2-40B4-BE49-F238E27FC236}">
                <a16:creationId xmlns:a16="http://schemas.microsoft.com/office/drawing/2014/main" id="{746385EF-EA73-FDDF-AD25-5291D544DB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755" y="529526"/>
            <a:ext cx="707922" cy="609600"/>
          </a:xfrm>
          <a:prstGeom prst="rect">
            <a:avLst/>
          </a:prstGeom>
        </p:spPr>
      </p:pic>
      <p:sp>
        <p:nvSpPr>
          <p:cNvPr id="7" name="TextBox 6">
            <a:extLst>
              <a:ext uri="{FF2B5EF4-FFF2-40B4-BE49-F238E27FC236}">
                <a16:creationId xmlns:a16="http://schemas.microsoft.com/office/drawing/2014/main" id="{EDD9517E-1F4F-B8F6-E437-9D9ACD02E885}"/>
              </a:ext>
            </a:extLst>
          </p:cNvPr>
          <p:cNvSpPr txBox="1"/>
          <p:nvPr/>
        </p:nvSpPr>
        <p:spPr>
          <a:xfrm>
            <a:off x="1302774" y="635759"/>
            <a:ext cx="10692581" cy="6186309"/>
          </a:xfrm>
          <a:prstGeom prst="rect">
            <a:avLst/>
          </a:prstGeom>
          <a:noFill/>
        </p:spPr>
        <p:txBody>
          <a:bodyPr wrap="square" rtlCol="0">
            <a:spAutoFit/>
          </a:bodyPr>
          <a:lstStyle/>
          <a:p>
            <a:r>
              <a:rPr lang="en-US" dirty="0">
                <a:latin typeface="Bell MT" panose="02020503060305020303" pitchFamily="18" charset="0"/>
              </a:rPr>
              <a:t>Between November 2022 and April 2023 Shield Insurance Generated Revenue </a:t>
            </a:r>
            <a:r>
              <a:rPr lang="en-US" dirty="0">
                <a:latin typeface="Bell MT" panose="02020503060305020303" pitchFamily="18" charset="0"/>
                <a:ea typeface="Calibri" panose="020F0502020204030204" pitchFamily="34" charset="0"/>
                <a:cs typeface="Calibri" panose="020F0502020204030204" pitchFamily="34" charset="0"/>
              </a:rPr>
              <a:t>₹ 989.2M in total revenue and served a customer based of 26.6K customer across multiple cities and age groups</a:t>
            </a:r>
          </a:p>
          <a:p>
            <a:endParaRPr lang="en-US" dirty="0">
              <a:latin typeface="Bell MT" panose="02020503060305020303" pitchFamily="18" charset="0"/>
              <a:ea typeface="Calibri" panose="020F0502020204030204" pitchFamily="34" charset="0"/>
              <a:cs typeface="Calibri" panose="020F0502020204030204" pitchFamily="34" charset="0"/>
            </a:endParaRPr>
          </a:p>
          <a:p>
            <a:r>
              <a:rPr lang="en-US" dirty="0">
                <a:latin typeface="Bell MT" panose="02020503060305020303" pitchFamily="18" charset="0"/>
                <a:ea typeface="Calibri" panose="020F0502020204030204" pitchFamily="34" charset="0"/>
                <a:cs typeface="Calibri" panose="020F0502020204030204" pitchFamily="34" charset="0"/>
              </a:rPr>
              <a:t>Delhi NCR emerged at the top-performing city, contributing 40.6% of total revenue and 41% of total customer</a:t>
            </a:r>
          </a:p>
          <a:p>
            <a:r>
              <a:rPr lang="en-US" dirty="0">
                <a:latin typeface="Bell MT" panose="02020503060305020303" pitchFamily="18" charset="0"/>
                <a:ea typeface="Calibri" panose="020F0502020204030204" pitchFamily="34" charset="0"/>
                <a:cs typeface="Calibri" panose="020F0502020204030204" pitchFamily="34" charset="0"/>
              </a:rPr>
              <a:t>Mumbai ranked second, contributing 24.2% of total revenue and 23.9% of total customer.</a:t>
            </a:r>
          </a:p>
          <a:p>
            <a:endParaRPr lang="en-US" dirty="0">
              <a:latin typeface="Bell MT" panose="02020503060305020303" pitchFamily="18" charset="0"/>
              <a:ea typeface="Calibri" panose="020F0502020204030204" pitchFamily="34" charset="0"/>
              <a:cs typeface="Calibri" panose="020F0502020204030204" pitchFamily="34" charset="0"/>
            </a:endParaRPr>
          </a:p>
          <a:p>
            <a:r>
              <a:rPr lang="en-US" dirty="0">
                <a:latin typeface="Bell MT" panose="02020503060305020303" pitchFamily="18" charset="0"/>
                <a:ea typeface="Calibri" panose="020F0502020204030204" pitchFamily="34" charset="0"/>
                <a:cs typeface="Calibri" panose="020F0502020204030204" pitchFamily="34" charset="0"/>
              </a:rPr>
              <a:t>Customer Aged 31-40 represent the largest customer segment, accounting for 38.3% of the total customer base</a:t>
            </a:r>
          </a:p>
          <a:p>
            <a:r>
              <a:rPr lang="en-US" dirty="0">
                <a:latin typeface="Bell MT" panose="02020503060305020303" pitchFamily="18" charset="0"/>
                <a:ea typeface="Calibri" panose="020F0502020204030204" pitchFamily="34" charset="0"/>
                <a:cs typeface="Calibri" panose="020F0502020204030204" pitchFamily="34" charset="0"/>
              </a:rPr>
              <a:t>Followed by 41-50 age group at 23.4% of the total customer base.</a:t>
            </a:r>
            <a:br>
              <a:rPr lang="en-US" dirty="0">
                <a:latin typeface="Bell MT" panose="02020503060305020303" pitchFamily="18" charset="0"/>
                <a:ea typeface="Calibri" panose="020F0502020204030204" pitchFamily="34" charset="0"/>
                <a:cs typeface="Calibri" panose="020F0502020204030204" pitchFamily="34" charset="0"/>
              </a:rPr>
            </a:br>
            <a:br>
              <a:rPr lang="en-US" dirty="0">
                <a:latin typeface="Bell MT" panose="02020503060305020303" pitchFamily="18" charset="0"/>
                <a:ea typeface="Calibri" panose="020F0502020204030204" pitchFamily="34" charset="0"/>
                <a:cs typeface="Calibri" panose="020F0502020204030204" pitchFamily="34" charset="0"/>
              </a:rPr>
            </a:br>
            <a:r>
              <a:rPr lang="en-US" dirty="0">
                <a:latin typeface="Bell MT" panose="02020503060305020303" pitchFamily="18" charset="0"/>
                <a:ea typeface="Calibri" panose="020F0502020204030204" pitchFamily="34" charset="0"/>
                <a:cs typeface="Calibri" panose="020F0502020204030204" pitchFamily="34" charset="0"/>
              </a:rPr>
              <a:t>Customer Aged 65+ recorded the highest expected settlement rate </a:t>
            </a:r>
            <a:r>
              <a:rPr lang="en-US">
                <a:latin typeface="Bell MT" panose="02020503060305020303" pitchFamily="18" charset="0"/>
                <a:ea typeface="Calibri" panose="020F0502020204030204" pitchFamily="34" charset="0"/>
                <a:cs typeface="Calibri" panose="020F0502020204030204" pitchFamily="34" charset="0"/>
              </a:rPr>
              <a:t>at 70.4</a:t>
            </a:r>
            <a:r>
              <a:rPr lang="en-US" dirty="0">
                <a:latin typeface="Bell MT" panose="02020503060305020303" pitchFamily="18" charset="0"/>
                <a:ea typeface="Calibri" panose="020F0502020204030204" pitchFamily="34" charset="0"/>
                <a:cs typeface="Calibri" panose="020F0502020204030204" pitchFamily="34" charset="0"/>
              </a:rPr>
              <a:t>% followed by the 51-65 age group </a:t>
            </a:r>
            <a:r>
              <a:rPr lang="en-US">
                <a:latin typeface="Bell MT" panose="02020503060305020303" pitchFamily="18" charset="0"/>
                <a:ea typeface="Calibri" panose="020F0502020204030204" pitchFamily="34" charset="0"/>
                <a:cs typeface="Calibri" panose="020F0502020204030204" pitchFamily="34" charset="0"/>
              </a:rPr>
              <a:t>at 63.8% </a:t>
            </a:r>
            <a:r>
              <a:rPr lang="en-US" dirty="0">
                <a:latin typeface="Bell MT" panose="02020503060305020303" pitchFamily="18" charset="0"/>
                <a:ea typeface="Calibri" panose="020F0502020204030204" pitchFamily="34" charset="0"/>
                <a:cs typeface="Calibri" panose="020F0502020204030204" pitchFamily="34" charset="0"/>
              </a:rPr>
              <a:t>indicating comparatively highly insurance risk among senior customer.</a:t>
            </a:r>
          </a:p>
          <a:p>
            <a:endParaRPr lang="en-US" dirty="0">
              <a:latin typeface="Bell MT" panose="02020503060305020303" pitchFamily="18" charset="0"/>
              <a:ea typeface="Calibri" panose="020F0502020204030204" pitchFamily="34" charset="0"/>
              <a:cs typeface="Calibri" panose="020F0502020204030204" pitchFamily="34" charset="0"/>
            </a:endParaRPr>
          </a:p>
          <a:p>
            <a:r>
              <a:rPr lang="en-US" dirty="0">
                <a:latin typeface="Bell MT" panose="02020503060305020303" pitchFamily="18" charset="0"/>
                <a:ea typeface="Calibri" panose="020F0502020204030204" pitchFamily="34" charset="0"/>
                <a:cs typeface="Calibri" panose="020F0502020204030204" pitchFamily="34" charset="0"/>
              </a:rPr>
              <a:t>Customer Aged 18-24 showed the strongest preference for the POL4321HEL policy, accounting for 46.4.% of policy selections within this age group  Similarly POL4321HEL was the most preferred policy among customer </a:t>
            </a:r>
          </a:p>
          <a:p>
            <a:r>
              <a:rPr lang="en-US" dirty="0">
                <a:latin typeface="Bell MT" panose="02020503060305020303" pitchFamily="18" charset="0"/>
                <a:ea typeface="Calibri" panose="020F0502020204030204" pitchFamily="34" charset="0"/>
                <a:cs typeface="Calibri" panose="020F0502020204030204" pitchFamily="34" charset="0"/>
              </a:rPr>
              <a:t>Age 25-30 representing 36.5%  of policy selections among senior citizen aged 65+, POL2005HEL emerged as the most preferred policy accounting for 27.3% of policy selections</a:t>
            </a:r>
          </a:p>
          <a:p>
            <a:endParaRPr lang="en-US" dirty="0">
              <a:latin typeface="Bell MT" panose="02020503060305020303" pitchFamily="18" charset="0"/>
              <a:ea typeface="Calibri" panose="020F0502020204030204" pitchFamily="34" charset="0"/>
              <a:cs typeface="Calibri" panose="020F0502020204030204" pitchFamily="34" charset="0"/>
            </a:endParaRPr>
          </a:p>
          <a:p>
            <a:r>
              <a:rPr lang="en-US" dirty="0">
                <a:latin typeface="Bell MT" panose="02020503060305020303" pitchFamily="18" charset="0"/>
                <a:ea typeface="Calibri" panose="020F0502020204030204" pitchFamily="34" charset="0"/>
                <a:cs typeface="Calibri" panose="020F0502020204030204" pitchFamily="34" charset="0"/>
              </a:rPr>
              <a:t>Offline-agent was the most preferred sales channel accounting for 55.4% of the total customer base, while online sales channel collectively contributed 28.7% of total customers.</a:t>
            </a:r>
          </a:p>
          <a:p>
            <a:endParaRPr lang="en-US" dirty="0">
              <a:latin typeface="Bell MT" panose="02020503060305020303" pitchFamily="18" charset="0"/>
              <a:ea typeface="Calibri" panose="020F0502020204030204" pitchFamily="34" charset="0"/>
              <a:cs typeface="Calibri" panose="020F0502020204030204" pitchFamily="34" charset="0"/>
            </a:endParaRPr>
          </a:p>
          <a:p>
            <a:r>
              <a:rPr lang="en-US" dirty="0">
                <a:latin typeface="Bell MT" panose="02020503060305020303" pitchFamily="18" charset="0"/>
              </a:rPr>
              <a:t>Offline-agent mode generated the highest revenue contribution accounting for 55.7% of total revenue </a:t>
            </a:r>
            <a:r>
              <a:rPr lang="en-US" dirty="0" err="1">
                <a:latin typeface="Bell MT" panose="02020503060305020303" pitchFamily="18" charset="0"/>
              </a:rPr>
              <a:t>copmpair</a:t>
            </a:r>
            <a:r>
              <a:rPr lang="en-US" dirty="0">
                <a:latin typeface="Bell MT" panose="02020503060305020303" pitchFamily="18" charset="0"/>
              </a:rPr>
              <a:t> to other sales channels</a:t>
            </a:r>
          </a:p>
        </p:txBody>
      </p:sp>
      <p:pic>
        <p:nvPicPr>
          <p:cNvPr id="9" name="Picture 8">
            <a:extLst>
              <a:ext uri="{FF2B5EF4-FFF2-40B4-BE49-F238E27FC236}">
                <a16:creationId xmlns:a16="http://schemas.microsoft.com/office/drawing/2014/main" id="{BBF664FB-A5B6-ABC5-F089-C07E2EBEDD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755" y="1317062"/>
            <a:ext cx="707922" cy="609600"/>
          </a:xfrm>
          <a:prstGeom prst="rect">
            <a:avLst/>
          </a:prstGeom>
        </p:spPr>
      </p:pic>
      <p:pic>
        <p:nvPicPr>
          <p:cNvPr id="11" name="Picture 10">
            <a:extLst>
              <a:ext uri="{FF2B5EF4-FFF2-40B4-BE49-F238E27FC236}">
                <a16:creationId xmlns:a16="http://schemas.microsoft.com/office/drawing/2014/main" id="{321EB615-E9AD-1FC6-0B34-050EDC9808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755" y="2130572"/>
            <a:ext cx="707922" cy="609600"/>
          </a:xfrm>
          <a:prstGeom prst="rect">
            <a:avLst/>
          </a:prstGeom>
        </p:spPr>
      </p:pic>
      <p:pic>
        <p:nvPicPr>
          <p:cNvPr id="13" name="Picture 12">
            <a:extLst>
              <a:ext uri="{FF2B5EF4-FFF2-40B4-BE49-F238E27FC236}">
                <a16:creationId xmlns:a16="http://schemas.microsoft.com/office/drawing/2014/main" id="{77988689-DA88-02D8-F587-A82D4FFAEF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755" y="2944082"/>
            <a:ext cx="707922" cy="609600"/>
          </a:xfrm>
          <a:prstGeom prst="rect">
            <a:avLst/>
          </a:prstGeom>
        </p:spPr>
      </p:pic>
      <p:pic>
        <p:nvPicPr>
          <p:cNvPr id="15" name="Picture 14">
            <a:extLst>
              <a:ext uri="{FF2B5EF4-FFF2-40B4-BE49-F238E27FC236}">
                <a16:creationId xmlns:a16="http://schemas.microsoft.com/office/drawing/2014/main" id="{814A3BC8-B9AD-DADF-CAF9-11427D1D80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755" y="3757592"/>
            <a:ext cx="707922" cy="609600"/>
          </a:xfrm>
          <a:prstGeom prst="rect">
            <a:avLst/>
          </a:prstGeom>
        </p:spPr>
      </p:pic>
      <p:pic>
        <p:nvPicPr>
          <p:cNvPr id="17" name="Picture 16">
            <a:extLst>
              <a:ext uri="{FF2B5EF4-FFF2-40B4-BE49-F238E27FC236}">
                <a16:creationId xmlns:a16="http://schemas.microsoft.com/office/drawing/2014/main" id="{A27A4EBE-886D-C782-4BCC-89E962740D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755" y="5151330"/>
            <a:ext cx="707922" cy="609600"/>
          </a:xfrm>
          <a:prstGeom prst="rect">
            <a:avLst/>
          </a:prstGeom>
        </p:spPr>
      </p:pic>
      <p:pic>
        <p:nvPicPr>
          <p:cNvPr id="19" name="Picture 18">
            <a:extLst>
              <a:ext uri="{FF2B5EF4-FFF2-40B4-BE49-F238E27FC236}">
                <a16:creationId xmlns:a16="http://schemas.microsoft.com/office/drawing/2014/main" id="{192F189B-E3A6-7138-F23C-E5570B58FD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755" y="5964192"/>
            <a:ext cx="707922" cy="609600"/>
          </a:xfrm>
          <a:prstGeom prst="rect">
            <a:avLst/>
          </a:prstGeom>
        </p:spPr>
      </p:pic>
    </p:spTree>
    <p:extLst>
      <p:ext uri="{BB962C8B-B14F-4D97-AF65-F5344CB8AC3E}">
        <p14:creationId xmlns:p14="http://schemas.microsoft.com/office/powerpoint/2010/main" val="261171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D547DB-88D8-0826-27BA-A96E03CAD092}"/>
              </a:ext>
            </a:extLst>
          </p:cNvPr>
          <p:cNvSpPr txBox="1"/>
          <p:nvPr/>
        </p:nvSpPr>
        <p:spPr>
          <a:xfrm>
            <a:off x="2674374" y="176981"/>
            <a:ext cx="6105833" cy="369332"/>
          </a:xfrm>
          <a:prstGeom prst="rect">
            <a:avLst/>
          </a:prstGeom>
          <a:noFill/>
        </p:spPr>
        <p:txBody>
          <a:bodyPr wrap="square" rtlCol="0">
            <a:spAutoFit/>
          </a:bodyPr>
          <a:lstStyle/>
          <a:p>
            <a:pPr algn="ctr"/>
            <a:r>
              <a:rPr lang="en-US" dirty="0">
                <a:latin typeface="Bell MT" panose="02020503060305020303" pitchFamily="18" charset="0"/>
              </a:rPr>
              <a:t>Strategic Recommendation</a:t>
            </a:r>
          </a:p>
        </p:txBody>
      </p:sp>
      <p:sp>
        <p:nvSpPr>
          <p:cNvPr id="3" name="TextBox 2">
            <a:extLst>
              <a:ext uri="{FF2B5EF4-FFF2-40B4-BE49-F238E27FC236}">
                <a16:creationId xmlns:a16="http://schemas.microsoft.com/office/drawing/2014/main" id="{23C2D7D7-50C9-622D-7031-5D06E5BCA89E}"/>
              </a:ext>
            </a:extLst>
          </p:cNvPr>
          <p:cNvSpPr txBox="1"/>
          <p:nvPr/>
        </p:nvSpPr>
        <p:spPr>
          <a:xfrm>
            <a:off x="373626" y="845574"/>
            <a:ext cx="11611897" cy="4247317"/>
          </a:xfrm>
          <a:prstGeom prst="rect">
            <a:avLst/>
          </a:prstGeom>
          <a:noFill/>
        </p:spPr>
        <p:txBody>
          <a:bodyPr wrap="square" rtlCol="0">
            <a:spAutoFit/>
          </a:bodyPr>
          <a:lstStyle/>
          <a:p>
            <a:r>
              <a:rPr lang="en-US" dirty="0">
                <a:latin typeface="Bell MT" panose="02020503060305020303" pitchFamily="18" charset="0"/>
              </a:rPr>
              <a:t>→ To increase overall revenue, Shield Insurance should focus on expanding its customer base in lower-performing cities such as Indore, Hyderabad and Chennai particularly among  customer aged 18-30. the analysis indicated  a strong positive relationships between customer growth and revenue generation.</a:t>
            </a:r>
          </a:p>
          <a:p>
            <a:endParaRPr lang="en-US" dirty="0">
              <a:latin typeface="Bell MT" panose="02020503060305020303" pitchFamily="18" charset="0"/>
            </a:endParaRPr>
          </a:p>
          <a:p>
            <a:r>
              <a:rPr lang="en-US" dirty="0">
                <a:latin typeface="Bell MT" panose="02020503060305020303" pitchFamily="18" charset="0"/>
              </a:rPr>
              <a:t>→ Shield Insurance Should review and optimize premium pricing strategies for customer aged 51+ due to their competitive while effective balancing risk </a:t>
            </a:r>
          </a:p>
          <a:p>
            <a:endParaRPr lang="en-US" dirty="0">
              <a:latin typeface="Bell MT" panose="02020503060305020303" pitchFamily="18" charset="0"/>
            </a:endParaRPr>
          </a:p>
          <a:p>
            <a:r>
              <a:rPr lang="en-US" dirty="0">
                <a:latin typeface="Bell MT" panose="02020503060305020303" pitchFamily="18" charset="0"/>
              </a:rPr>
              <a:t>→ Shield Insurance should launch targeted marketing campaigns for customer aged 18-30 t promoted the POL4321HEL</a:t>
            </a:r>
          </a:p>
          <a:p>
            <a:r>
              <a:rPr lang="en-US" dirty="0">
                <a:latin typeface="Bell MT" panose="02020503060305020303" pitchFamily="18" charset="0"/>
              </a:rPr>
              <a:t>Policy as this policy show strong preference within this  age group along with comparatively lower settlement risk. Similarly targeted campaigns  for senior customer aged 51+ can help   improve adoption of the POL2005HEL Policy.</a:t>
            </a:r>
          </a:p>
          <a:p>
            <a:endParaRPr lang="en-US" dirty="0">
              <a:latin typeface="Bell MT" panose="02020503060305020303" pitchFamily="18" charset="0"/>
            </a:endParaRPr>
          </a:p>
          <a:p>
            <a:r>
              <a:rPr lang="en-US" dirty="0">
                <a:latin typeface="Bell MT" panose="02020503060305020303" pitchFamily="18" charset="0"/>
              </a:rPr>
              <a:t>→ since offline-agent is the highest-performing sales channel Shield Insurance should establish monthly pr quarterly customer acquisitions targets for agents and closely  monitor their performance at the same time the company should analyze and improve online-app and online-website channels to understand the factor limiting customer acquisitions through digital platform.</a:t>
            </a:r>
            <a:endParaRPr lang="en-US" dirty="0"/>
          </a:p>
        </p:txBody>
      </p:sp>
    </p:spTree>
    <p:extLst>
      <p:ext uri="{BB962C8B-B14F-4D97-AF65-F5344CB8AC3E}">
        <p14:creationId xmlns:p14="http://schemas.microsoft.com/office/powerpoint/2010/main" val="3496424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27915A-89D9-2BA7-9403-7475B5F00F3A}"/>
              </a:ext>
            </a:extLst>
          </p:cNvPr>
          <p:cNvSpPr txBox="1"/>
          <p:nvPr/>
        </p:nvSpPr>
        <p:spPr>
          <a:xfrm>
            <a:off x="2300748" y="2605548"/>
            <a:ext cx="6902245" cy="1107996"/>
          </a:xfrm>
          <a:prstGeom prst="rect">
            <a:avLst/>
          </a:prstGeom>
          <a:noFill/>
        </p:spPr>
        <p:txBody>
          <a:bodyPr wrap="square" rtlCol="0">
            <a:spAutoFit/>
          </a:bodyPr>
          <a:lstStyle/>
          <a:p>
            <a:pPr algn="ctr"/>
            <a:r>
              <a:rPr lang="en-US" sz="6600" dirty="0">
                <a:latin typeface="Bell MT" panose="02020503060305020303" pitchFamily="18" charset="0"/>
              </a:rPr>
              <a:t>Thank you </a:t>
            </a:r>
          </a:p>
        </p:txBody>
      </p:sp>
    </p:spTree>
    <p:extLst>
      <p:ext uri="{BB962C8B-B14F-4D97-AF65-F5344CB8AC3E}">
        <p14:creationId xmlns:p14="http://schemas.microsoft.com/office/powerpoint/2010/main" val="1172448618"/>
      </p:ext>
    </p:extLst>
  </p:cSld>
  <p:clrMapOvr>
    <a:masterClrMapping/>
  </p:clrMapOvr>
</p:sld>
</file>

<file path=ppt/theme/theme1.xml><?xml version="1.0" encoding="utf-8"?>
<a:theme xmlns:a="http://schemas.openxmlformats.org/drawingml/2006/main" name="Editorial">
  <a:themeElements>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71EC1670-473B-4381-BA1C-B02CC96DD716}" vid="{C5D3EF77-ADD0-40FD-A769-C339DAE739D1}"/>
    </a:ext>
  </a:extLst>
</a:theme>
</file>

<file path=docProps/app.xml><?xml version="1.0" encoding="utf-8"?>
<Properties xmlns="http://schemas.openxmlformats.org/officeDocument/2006/extended-properties" xmlns:vt="http://schemas.openxmlformats.org/officeDocument/2006/docPropsVTypes">
  <Template>Editorial</Template>
  <TotalTime>486</TotalTime>
  <Words>651</Words>
  <Application>Microsoft Office PowerPoint</Application>
  <PresentationFormat>Widescreen</PresentationFormat>
  <Paragraphs>72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Bell MT</vt:lpstr>
      <vt:lpstr>Haettenschweiler</vt:lpstr>
      <vt:lpstr>Trade Gothic Next Light</vt:lpstr>
      <vt:lpstr>Editorial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Deepak Kumar</dc:creator>
  <cp:lastModifiedBy>Deepak Kumar</cp:lastModifiedBy>
  <cp:revision>1</cp:revision>
  <dcterms:created xsi:type="dcterms:W3CDTF">2026-10-05T10:38:22Z</dcterms:created>
  <dcterms:modified xsi:type="dcterms:W3CDTF">2026-10-08T05:43:52Z</dcterms:modified>
</cp:coreProperties>
</file>